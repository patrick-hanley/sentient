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nce upon a time" id="{e72a4641-852e-b0e7-e443-da12d5ba50d4}">
          <p14:sldIdLst>
            <p14:sldId id="256"/>
            <p14:sldId id="257"/>
          </p14:sldIdLst>
        </p14:section>
        <p14:section name="The characters" id="{c34c3027-d948-7700-edb5-49cffc3c0c9b}">
          <p14:sldIdLst>
            <p14:sldId id="258"/>
            <p14:sldId id="259"/>
            <p14:sldId id="260"/>
          </p14:sldIdLst>
        </p14:section>
        <p14:section name="Behind the curtain" id="{d5a8c824-ddd5-1ac3-5ab8-fd018a25c35a}">
          <p14:sldIdLst>
            <p14:sldId id="261"/>
            <p14:sldId id="262"/>
            <p14:sldId id="263"/>
          </p14:sldIdLst>
        </p14:section>
        <p14:section name="Happily ever after" id="{3ba1439e-2f19-be4d-c80c-82684b260d4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1F4B"/>
                </a:solidFill>
                <a:latin typeface="+mn-lt"/>
              </a:defRPr>
            </a:pPr>
            <a:r>
              <a:rPr sz="1500" b="0" i="0" u="none" strike="noStrike">
                <a:solidFill>
                  <a:srgbClr val="1B1F4B"/>
                </a:solidFill>
                <a:latin typeface="+mn-lt"/>
              </a:rPr>
              <a:t>Wait before a toy starts talking (seconds)</a:t>
            </a:r>
          </a:p>
        </c:rich>
      </c:tx>
      <c:layout/>
      <c:overlay val="0"/>
    </c:title>
    <c:autoTitleDeleted val="0"/>
    <c:plotArea>
      <c:layout/>
      <c:barChart>
        <c:barDir val="bar"/>
        <c:grouping val="clustered"/>
        <c:varyColors val="0"/>
        <c:ser>
          <c:idx val="0"/>
          <c:order val="0"/>
          <c:tx>
            <c:strRef>
              <c:f>Sheet1!$B$1</c:f>
              <c:strCache>
                <c:ptCount val="1"/>
                <c:pt idx="0">
                  <c:v>Network delay</c:v>
                </c:pt>
              </c:strCache>
            </c:strRef>
          </c:tx>
          <c:spPr>
            <a:solidFill>
              <a:srgbClr val="3E8E2F"/>
            </a:solidFill>
            <a:effectLst/>
          </c:spPr>
          <c:invertIfNegative val="0"/>
          <c:dLbls>
            <c:numFmt formatCode="0.0&quot; s&quot;" sourceLinked="0"/>
            <c:txPr>
              <a:bodyPr/>
              <a:lstStyle/>
              <a:p>
                <a:pPr>
                  <a:defRPr b="0" i="0" strike="noStrike" sz="1400" u="none">
                    <a:solidFill>
                      <a:srgbClr val="1B1F4B"/>
                    </a:solidFill>
                    <a:latin typeface="+mn-lt"/>
                  </a:defRPr>
                </a:pPr>
              </a:p>
            </c:txPr>
            <c:showLegendKey val="0"/>
            <c:showVal val="1"/>
            <c:showCatName val="0"/>
            <c:showSerName val="0"/>
            <c:showPercent val="0"/>
            <c:showBubbleSize val="0"/>
            <c:showLeaderLines val="0"/>
          </c:dLbls>
          <c:cat>
            <c:multiLvlStrRef>
              <c:f>Sheet1!$A$2:$A$4</c:f>
              <c:multiLvlStrCache>
                <c:ptCount val="3"/>
                <c:lvl>
                  <c:pt idx="0">
                    <c:v>Raw audio, phone hotspot</c:v>
                  </c:pt>
                  <c:pt idx="1">
                    <c:v>Compressed audio, phone hotspot</c:v>
                  </c:pt>
                  <c:pt idx="2">
                    <c:v>Compressed audio, Mac hotspot</c:v>
                  </c:pt>
                </c:lvl>
              </c:multiLvlStrCache>
            </c:multiLvlStrRef>
          </c:cat>
          <c:val>
            <c:numRef>
              <c:f>Sheet1!$B$2:$B$4</c:f>
              <c:numCache>
                <c:formatCode>General</c:formatCode>
                <c:ptCount val="3"/>
                <c:pt idx="0">
                  <c:v>11.5</c:v>
                </c:pt>
                <c:pt idx="1">
                  <c:v>3.1</c:v>
                </c:pt>
                <c:pt idx="2">
                  <c:v>0.2</c:v>
                </c:pt>
              </c:numCache>
            </c:numRef>
          </c:val>
        </c:ser>
        <c:dLbls>
          <c:numFmt formatCode="0.0&quot; s&quot;" sourceLinked="0"/>
          <c:txPr>
            <a:bodyPr/>
            <a:lstStyle/>
            <a:p>
              <a:pPr>
                <a:defRPr b="0" i="0" strike="noStrike" sz="1400" u="none">
                  <a:solidFill>
                    <a:srgbClr val="1B1F4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Meet Dyno, Sage and Penny. They're three plush friends who can see who's in front of them, hear a child without anyone pressing a button, and talk back in their own voices. All of it runs on a computer at the table, with no cloud. Disney would start with the characters, not the chips, so that's what we'll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Pixar plans every film with a story spine, so here's ours. Homework time is often a kid alone with a worksheet, and asking for help can feel harder than guessing. One day three plush friends sit down at the table with them. Because of that, the child gets to ask questions, explain answers, and teach a curious dinosaur. Until finally, the child is the one teaching. That last beat is the heart of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toy has identical hardware: a camera, a mic and a speaker on an ESP32 board. What makes them different is character. Dyno is curious and asks the questions a shy kid might not. Sage is careful: she reads, explains, and gives hints instead of answers. Penny is the imaginative one: she always gets the facts right, then turns them into wordplay and make-believe.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moment we built everything around. Dyno is curious, so instead of lecturing, Dyno asks the child to teach him seven times eight. The child explains it, Sage confirms it, and Penny adds her imaginative twist: seven rows of eight penguins. Every line comes from Gemma, and the facts stay right. Disney would call this the emotional beat: the child gets to be the expert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toy's camera tells it who's there. An unknown face is the child it's playing with. Family members get recognized from a few enrolled photos and greeted by name. The toys recognize each other by a tag on their chests. Pets and books come from an object detector built for LiteRT on the Pi or Jetson build. Whatever is biggest and most centered is what a toy is 'looking at'. This photo is a real frame from Dyno's camera, looking at Penny's woolly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curtain, the toys are deliberately thin. They only sense and speak. Each Atom streams its mic and answers camera requests over a local Wi-Fi hotspot with about 8 milliseconds of round trip. The brain listens for when a child starts and stops talking, looks through all three cameras, asks Gemma what each toy should say, and voices it with Piper. To be precise about today: on this Intel Mac, Gemma runs through llama.cpp with Whisper for speech. The LiteRT-LM build for a Pi 5 or Jetson is written and packed, and on those devices Gemma hears the audio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put Gemma inside the toy? The Gemma 4 E2B model file is about 2.6 gigabytes. The ESP32 inside each toy has 8 megabytes of memory. That's roughly 320 times too small. So the toy keeps what it's good at, being soft and huggable, and the brain at the table does the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Walt Disney called it plussing: always making the thing a little better. Our first version made a child wait over eleven seconds just for a toy's voice to arrive. Compressing the audio got that to about three, and hosting the Wi-Fi on the Mac got it to a fifth of a second. Along the way we solved three hardware mysteries: a mic that heard nothing because the sound chip talked in the other stereo channel, a camera with no JPEG encoder, and three boards that all claimed the same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Disney parks run on trust, and so should a toy that listens to a child. Nothing leaves the room. Speech is kept in memory only until Gemma hears it, then deleted. The toys stick to school subjects, homework, toys and games, and steer other topics back kindly. They give hints instead of answers. If a child sounds sad, kindness comes first, along with a suggestion to tell a grown-up they trust. Enrolled family faces never leave the brain and can be wiped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goes next: on a Jetson with LiteRT-LM, published benchmarks put Gemma's first word at under a second. The cast can grow, since every new friend is just another thin client. And each Atom already has a motion sensor, so shake, tilt and high-five games are next. The code is public on GitHub. Thank you! Come ask Penny a times-table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rtlCol="0"/>
          <a:lstStyle>
            <a:lvl1pPr indent="0" marL="0">
              <a:buNone/>
              <a:defRPr lang="en-US" sz="1200" b="1" spc="200" kern="0" dirty="0">
                <a:solidFill>
                  <a:schemeClr val="tx2"/>
                </a:solidFill>
              </a:defRPr>
            </a:lvl1pPr>
          </a:lstStyle>
          <a:p>
            <a:pPr indent="0" marL="0">
              <a:buNone/>
            </a:pP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Dyno, Sage &amp; Penny  ·  Gemma Hardware Hackathon, AGI House  ·  Oct 24, 2026</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34" type="body" hasCustomPrompt="1"/>
          </p:nvPr>
        </p:nvSpPr>
        <p:spPr>
          <a:xfrm>
            <a:off x="548640" y="292608"/>
            <a:ext cx="11064240" cy="329184"/>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35" type="title" hasCustomPrompt="1"/>
          </p:nvPr>
        </p:nvSpPr>
        <p:spPr>
          <a:xfrm>
            <a:off x="548640" y="603504"/>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Dyno, Sage &amp; Penny  ·  Gemma Hardware Hackathon, AGI House  ·  Oct 24, 2026</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hyperlink" Target="https://github.com/patrick-hanley/sentient"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GEMMA HARDWARE HACKATHON  ·  PHYSICAL AI, IoT &amp; ROBOTICS</a:t>
            </a:r>
            <a:endParaRPr lang="en-US" sz="1300" dirty="0"/>
          </a:p>
        </p:txBody>
      </p:sp>
      <p:sp>
        <p:nvSpPr>
          <p:cNvPr id="3" name="Text 1"/>
          <p:cNvSpPr txBox="1"/>
          <p:nvPr/>
        </p:nvSpPr>
        <p:spPr>
          <a:xfrm>
            <a:off x="640080" y="1325880"/>
            <a:ext cx="6035040" cy="1737360"/>
          </a:xfrm>
          <a:prstGeom prst="rect">
            <a:avLst/>
          </a:prstGeom>
          <a:noFill/>
          <a:ln/>
        </p:spPr>
        <p:txBody>
          <a:bodyPr wrap="square" lIns="0" tIns="0" rIns="0" bIns="0" rtlCol="0" anchor="t"/>
          <a:lstStyle/>
          <a:p>
            <a:pPr indent="0" marL="0">
              <a:buNone/>
            </a:pPr>
            <a:r>
              <a:rPr lang="en-US" sz="5400" b="1" dirty="0">
                <a:solidFill>
                  <a:schemeClr val="bg1"/>
                </a:solidFill>
                <a:latin typeface="Century Schoolbook" pitchFamily="34" charset="0"/>
                <a:ea typeface="Century Schoolbook" pitchFamily="34" charset="-122"/>
                <a:cs typeface="Century Schoolbook" pitchFamily="34" charset="-120"/>
              </a:rPr>
              <a:t>Dyno, Sage &amp; Penny</a:t>
            </a:r>
            <a:endParaRPr lang="en-US" sz="5400" dirty="0"/>
          </a:p>
        </p:txBody>
      </p:sp>
      <p:sp>
        <p:nvSpPr>
          <p:cNvPr id="4" name="Text 2"/>
          <p:cNvSpPr txBox="1"/>
          <p:nvPr/>
        </p:nvSpPr>
        <p:spPr>
          <a:xfrm>
            <a:off x="640080" y="3108960"/>
            <a:ext cx="5669280" cy="1097280"/>
          </a:xfrm>
          <a:prstGeom prst="rect">
            <a:avLst/>
          </a:prstGeom>
          <a:noFill/>
          <a:ln/>
        </p:spPr>
        <p:txBody>
          <a:bodyPr wrap="square" lIns="0" tIns="0" rIns="0" bIns="0" rtlCol="0" anchor="t"/>
          <a:lstStyle/>
          <a:p>
            <a:pPr indent="0" marL="0">
              <a:buNone/>
            </a:pPr>
            <a:r>
              <a:rPr lang="en-US" sz="2000" dirty="0">
                <a:solidFill>
                  <a:srgbClr val="D9DAF0"/>
                </a:solidFill>
              </a:rPr>
              <a:t>Three plush friends who see you, listen, and learn with you. Powered by Gemma, entirely in the room.</a:t>
            </a:r>
            <a:endParaRPr lang="en-US" sz="2000" dirty="0"/>
          </a:p>
        </p:txBody>
      </p:sp>
      <p:sp>
        <p:nvSpPr>
          <p:cNvPr id="5" name="Dyno circle"/>
          <p:cNvSpPr/>
          <p:nvPr/>
        </p:nvSpPr>
        <p:spPr>
          <a:xfrm>
            <a:off x="640080" y="4617720"/>
            <a:ext cx="566928" cy="566928"/>
          </a:xfrm>
          <a:prstGeom prst="ellipse">
            <a:avLst/>
          </a:prstGeom>
          <a:solidFill>
            <a:schemeClr val="accent2"/>
          </a:solidFill>
          <a:ln/>
        </p:spPr>
      </p:sp>
      <p:pic>
        <p:nvPicPr>
          <p:cNvPr id="6" name="Dyno icon" descr="preencoded.png">    </p:cNvPr>
          <p:cNvPicPr>
            <a:picLocks noChangeAspect="1"/>
          </p:cNvPicPr>
          <p:nvPr/>
        </p:nvPicPr>
        <p:blipFill>
          <a:blip r:embed="rId1"/>
          <a:stretch>
            <a:fillRect/>
          </a:stretch>
        </p:blipFill>
        <p:spPr>
          <a:xfrm>
            <a:off x="764804" y="4742444"/>
            <a:ext cx="317480" cy="317480"/>
          </a:xfrm>
          <a:prstGeom prst="rect">
            <a:avLst/>
          </a:prstGeom>
        </p:spPr>
      </p:pic>
      <p:sp>
        <p:nvSpPr>
          <p:cNvPr id="7" name="Text 4"/>
          <p:cNvSpPr txBox="1"/>
          <p:nvPr/>
        </p:nvSpPr>
        <p:spPr>
          <a:xfrm>
            <a:off x="1298448" y="4617720"/>
            <a:ext cx="1143000" cy="566928"/>
          </a:xfrm>
          <a:prstGeom prst="rect">
            <a:avLst/>
          </a:prstGeom>
          <a:noFill/>
          <a:ln/>
        </p:spPr>
        <p:txBody>
          <a:bodyPr wrap="square" lIns="0" tIns="0" rIns="0" bIns="0" rtlCol="0" anchor="ctr"/>
          <a:lstStyle/>
          <a:p>
            <a:pPr indent="0" marL="0">
              <a:buNone/>
            </a:pPr>
            <a:r>
              <a:rPr lang="en-US" sz="1700" b="1" dirty="0">
                <a:solidFill>
                  <a:schemeClr val="bg1"/>
                </a:solidFill>
              </a:rPr>
              <a:t>Dyno</a:t>
            </a:r>
            <a:endParaRPr lang="en-US" sz="1700" dirty="0"/>
          </a:p>
        </p:txBody>
      </p:sp>
      <p:sp>
        <p:nvSpPr>
          <p:cNvPr id="8" name="Sage circle"/>
          <p:cNvSpPr/>
          <p:nvPr/>
        </p:nvSpPr>
        <p:spPr>
          <a:xfrm>
            <a:off x="2514600" y="4617720"/>
            <a:ext cx="566928" cy="566928"/>
          </a:xfrm>
          <a:prstGeom prst="ellipse">
            <a:avLst/>
          </a:prstGeom>
          <a:solidFill>
            <a:schemeClr val="accent3"/>
          </a:solidFill>
          <a:ln/>
        </p:spPr>
      </p:sp>
      <p:pic>
        <p:nvPicPr>
          <p:cNvPr id="9" name="Sage icon" descr="preencoded.png">    </p:cNvPr>
          <p:cNvPicPr>
            <a:picLocks noChangeAspect="1"/>
          </p:cNvPicPr>
          <p:nvPr/>
        </p:nvPicPr>
        <p:blipFill>
          <a:blip r:embed="rId2"/>
          <a:stretch>
            <a:fillRect/>
          </a:stretch>
        </p:blipFill>
        <p:spPr>
          <a:xfrm>
            <a:off x="2639324" y="4742444"/>
            <a:ext cx="317480" cy="317480"/>
          </a:xfrm>
          <a:prstGeom prst="rect">
            <a:avLst/>
          </a:prstGeom>
        </p:spPr>
      </p:pic>
      <p:sp>
        <p:nvSpPr>
          <p:cNvPr id="10" name="Text 6"/>
          <p:cNvSpPr txBox="1"/>
          <p:nvPr/>
        </p:nvSpPr>
        <p:spPr>
          <a:xfrm>
            <a:off x="3172968" y="4617720"/>
            <a:ext cx="1143000" cy="566928"/>
          </a:xfrm>
          <a:prstGeom prst="rect">
            <a:avLst/>
          </a:prstGeom>
          <a:noFill/>
          <a:ln/>
        </p:spPr>
        <p:txBody>
          <a:bodyPr wrap="square" lIns="0" tIns="0" rIns="0" bIns="0" rtlCol="0" anchor="ctr"/>
          <a:lstStyle/>
          <a:p>
            <a:pPr indent="0" marL="0">
              <a:buNone/>
            </a:pPr>
            <a:r>
              <a:rPr lang="en-US" sz="1700" b="1" dirty="0">
                <a:solidFill>
                  <a:schemeClr val="bg1"/>
                </a:solidFill>
              </a:rPr>
              <a:t>Sage</a:t>
            </a:r>
            <a:endParaRPr lang="en-US" sz="1700" dirty="0"/>
          </a:p>
        </p:txBody>
      </p:sp>
      <p:sp>
        <p:nvSpPr>
          <p:cNvPr id="11" name="Penny circle"/>
          <p:cNvSpPr/>
          <p:nvPr/>
        </p:nvSpPr>
        <p:spPr>
          <a:xfrm>
            <a:off x="4389120" y="4617720"/>
            <a:ext cx="566928" cy="566928"/>
          </a:xfrm>
          <a:prstGeom prst="ellipse">
            <a:avLst/>
          </a:prstGeom>
          <a:solidFill>
            <a:schemeClr val="accent4"/>
          </a:solidFill>
          <a:ln/>
        </p:spPr>
      </p:sp>
      <p:pic>
        <p:nvPicPr>
          <p:cNvPr id="12" name="Penny icon" descr="preencoded.png">    </p:cNvPr>
          <p:cNvPicPr>
            <a:picLocks noChangeAspect="1"/>
          </p:cNvPicPr>
          <p:nvPr/>
        </p:nvPicPr>
        <p:blipFill>
          <a:blip r:embed="rId3"/>
          <a:stretch>
            <a:fillRect/>
          </a:stretch>
        </p:blipFill>
        <p:spPr>
          <a:xfrm>
            <a:off x="4513844" y="4742444"/>
            <a:ext cx="317480" cy="317480"/>
          </a:xfrm>
          <a:prstGeom prst="rect">
            <a:avLst/>
          </a:prstGeom>
        </p:spPr>
      </p:pic>
      <p:sp>
        <p:nvSpPr>
          <p:cNvPr id="13" name="Text 8"/>
          <p:cNvSpPr txBox="1"/>
          <p:nvPr/>
        </p:nvSpPr>
        <p:spPr>
          <a:xfrm>
            <a:off x="5047488" y="4617720"/>
            <a:ext cx="1143000" cy="566928"/>
          </a:xfrm>
          <a:prstGeom prst="rect">
            <a:avLst/>
          </a:prstGeom>
          <a:noFill/>
          <a:ln/>
        </p:spPr>
        <p:txBody>
          <a:bodyPr wrap="square" lIns="0" tIns="0" rIns="0" bIns="0" rtlCol="0" anchor="ctr"/>
          <a:lstStyle/>
          <a:p>
            <a:pPr indent="0" marL="0">
              <a:buNone/>
            </a:pPr>
            <a:r>
              <a:rPr lang="en-US" sz="1700" b="1" dirty="0">
                <a:solidFill>
                  <a:schemeClr val="bg1"/>
                </a:solidFill>
              </a:rPr>
              <a:t>Penny</a:t>
            </a:r>
            <a:endParaRPr lang="en-US" sz="1700" dirty="0"/>
          </a:p>
        </p:txBody>
      </p:sp>
      <p:sp>
        <p:nvSpPr>
          <p:cNvPr id="14" name="Text 9"/>
          <p:cNvSpPr txBox="1"/>
          <p:nvPr/>
        </p:nvSpPr>
        <p:spPr>
          <a:xfrm>
            <a:off x="640080" y="5623560"/>
            <a:ext cx="5669280" cy="365760"/>
          </a:xfrm>
          <a:prstGeom prst="rect">
            <a:avLst/>
          </a:prstGeom>
          <a:noFill/>
          <a:ln/>
        </p:spPr>
        <p:txBody>
          <a:bodyPr wrap="square" lIns="0" tIns="0" rIns="0" bIns="0" rtlCol="0" anchor="ctr"/>
          <a:lstStyle/>
          <a:p>
            <a:pPr indent="0" marL="0">
              <a:buNone/>
            </a:pPr>
            <a:r>
              <a:rPr lang="en-US" sz="1400" i="1" dirty="0">
                <a:solidFill>
                  <a:schemeClr val="accent1"/>
                </a:solidFill>
              </a:rPr>
              <a:t>No cloud anywhere in the loop.</a:t>
            </a:r>
            <a:endParaRPr lang="en-US" sz="1400" dirty="0"/>
          </a:p>
        </p:txBody>
      </p:sp>
      <p:sp>
        <p:nvSpPr>
          <p:cNvPr id="15" name="hero stage"/>
          <p:cNvSpPr/>
          <p:nvPr/>
        </p:nvSpPr>
        <p:spPr>
          <a:xfrm>
            <a:off x="6812280" y="685800"/>
            <a:ext cx="4800600" cy="5440680"/>
          </a:xfrm>
          <a:prstGeom prst="roundRect">
            <a:avLst>
              <a:gd name="adj" fmla="val 4762"/>
            </a:avLst>
          </a:prstGeom>
          <a:solidFill>
            <a:schemeClr val="bg1"/>
          </a:solidFill>
          <a:ln/>
          <a:effectLst>
            <a:outerShdw sx="100000" sy="100000" kx="0" ky="0" algn="bl" rotWithShape="0" blurRad="228600" dist="50800" dir="5400000">
              <a:srgbClr val="000000">
                <a:alpha val="35000"/>
              </a:srgbClr>
            </a:outerShdw>
          </a:effectLst>
        </p:spPr>
      </p:sp>
      <p:pic>
        <p:nvPicPr>
          <p:cNvPr id="16" name="cast photo" descr="Penny the penguin, Sage the baby unicorn and Dyno the dinosaur, each with an Atom camera on its forehead">    </p:cNvPr>
          <p:cNvPicPr>
            <a:picLocks noChangeAspect="1"/>
          </p:cNvPicPr>
          <p:nvPr/>
        </p:nvPicPr>
        <p:blipFill>
          <a:blip r:embed="rId4"/>
          <a:stretch>
            <a:fillRect/>
          </a:stretch>
        </p:blipFill>
        <p:spPr>
          <a:xfrm>
            <a:off x="6995160" y="914400"/>
            <a:ext cx="4434840" cy="4160520"/>
          </a:xfrm>
          <a:prstGeom prst="rect">
            <a:avLst/>
          </a:prstGeom>
        </p:spPr>
      </p:pic>
      <p:sp>
        <p:nvSpPr>
          <p:cNvPr id="17" name="Text 11"/>
          <p:cNvSpPr txBox="1"/>
          <p:nvPr/>
        </p:nvSpPr>
        <p:spPr>
          <a:xfrm>
            <a:off x="7086600" y="5257800"/>
            <a:ext cx="4251960" cy="640080"/>
          </a:xfrm>
          <a:prstGeom prst="rect">
            <a:avLst/>
          </a:prstGeom>
          <a:noFill/>
          <a:ln/>
        </p:spPr>
        <p:txBody>
          <a:bodyPr wrap="square" lIns="0" tIns="0" rIns="0" bIns="0" rtlCol="0" anchor="ctr"/>
          <a:lstStyle/>
          <a:p>
            <a:pPr algn="ctr" indent="0" marL="0">
              <a:buNone/>
            </a:pPr>
            <a:r>
              <a:rPr lang="en-US" sz="1200" i="1" dirty="0">
                <a:solidFill>
                  <a:schemeClr val="tx2"/>
                </a:solidFill>
              </a:rPr>
              <a:t>The real cast. Each forehead holds a camera, mic and speaker.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THE STORY  ·  PIXAR'S STORY SPINE</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Once upon a time, homework was lonely</a:t>
            </a:r>
            <a:endParaRPr lang="en-US" sz="3600" dirty="0"/>
          </a:p>
        </p:txBody>
      </p:sp>
      <p:sp>
        <p:nvSpPr>
          <p:cNvPr id="4" name="beat 1 circle"/>
          <p:cNvSpPr/>
          <p:nvPr/>
        </p:nvSpPr>
        <p:spPr>
          <a:xfrm>
            <a:off x="685800" y="1691640"/>
            <a:ext cx="658368" cy="658368"/>
          </a:xfrm>
          <a:prstGeom prst="ellipse">
            <a:avLst/>
          </a:prstGeom>
          <a:solidFill>
            <a:schemeClr val="tx1"/>
          </a:solidFill>
          <a:ln/>
        </p:spPr>
      </p:sp>
      <p:pic>
        <p:nvPicPr>
          <p:cNvPr id="5" name="beat 1 icon" descr="preencoded.png">    </p:cNvPr>
          <p:cNvPicPr>
            <a:picLocks noChangeAspect="1"/>
          </p:cNvPicPr>
          <p:nvPr/>
        </p:nvPicPr>
        <p:blipFill>
          <a:blip r:embed="rId1"/>
          <a:stretch>
            <a:fillRect/>
          </a:stretch>
        </p:blipFill>
        <p:spPr>
          <a:xfrm>
            <a:off x="830641" y="1836481"/>
            <a:ext cx="368686" cy="368686"/>
          </a:xfrm>
          <a:prstGeom prst="rect">
            <a:avLst/>
          </a:prstGeom>
        </p:spPr>
      </p:pic>
      <p:sp>
        <p:nvSpPr>
          <p:cNvPr id="6" name="beat text 1"/>
          <p:cNvSpPr txBox="1"/>
          <p:nvPr/>
        </p:nvSpPr>
        <p:spPr>
          <a:xfrm>
            <a:off x="1600200" y="1691640"/>
            <a:ext cx="9875520" cy="658368"/>
          </a:xfrm>
          <a:prstGeom prst="rect">
            <a:avLst/>
          </a:prstGeom>
          <a:noFill/>
          <a:ln/>
        </p:spPr>
        <p:txBody>
          <a:bodyPr wrap="square" lIns="0" tIns="0" rIns="0" bIns="0" rtlCol="0" anchor="ctr"/>
          <a:lstStyle/>
          <a:p>
            <a:pPr indent="0" marL="0">
              <a:buNone/>
            </a:pPr>
            <a:r>
              <a:rPr lang="en-US" sz="2000" b="1" dirty="0">
                <a:solidFill>
                  <a:schemeClr val="tx1"/>
                </a:solidFill>
              </a:rPr>
              <a:t>Once upon a time… </a:t>
            </a:r>
            <a:pPr indent="0" marL="0">
              <a:buNone/>
            </a:pPr>
            <a:r>
              <a:rPr lang="en-US" sz="2000" dirty="0">
                <a:solidFill>
                  <a:schemeClr val="tx2"/>
                </a:solidFill>
              </a:rPr>
              <a:t>a third grader sat alone with a worksheet and a screen.</a:t>
            </a:r>
            <a:endParaRPr lang="en-US" sz="2000" dirty="0"/>
          </a:p>
        </p:txBody>
      </p:sp>
      <p:sp>
        <p:nvSpPr>
          <p:cNvPr id="7" name="beat 2 circle"/>
          <p:cNvSpPr/>
          <p:nvPr/>
        </p:nvSpPr>
        <p:spPr>
          <a:xfrm>
            <a:off x="685800" y="2587752"/>
            <a:ext cx="658368" cy="658368"/>
          </a:xfrm>
          <a:prstGeom prst="ellipse">
            <a:avLst/>
          </a:prstGeom>
          <a:solidFill>
            <a:schemeClr val="tx1"/>
          </a:solidFill>
          <a:ln/>
        </p:spPr>
      </p:sp>
      <p:pic>
        <p:nvPicPr>
          <p:cNvPr id="8" name="beat 2 icon" descr="preencoded.png">    </p:cNvPr>
          <p:cNvPicPr>
            <a:picLocks noChangeAspect="1"/>
          </p:cNvPicPr>
          <p:nvPr/>
        </p:nvPicPr>
        <p:blipFill>
          <a:blip r:embed="rId2"/>
          <a:stretch>
            <a:fillRect/>
          </a:stretch>
        </p:blipFill>
        <p:spPr>
          <a:xfrm>
            <a:off x="830641" y="2732593"/>
            <a:ext cx="368686" cy="368686"/>
          </a:xfrm>
          <a:prstGeom prst="rect">
            <a:avLst/>
          </a:prstGeom>
        </p:spPr>
      </p:pic>
      <p:sp>
        <p:nvSpPr>
          <p:cNvPr id="9" name="beat text 2"/>
          <p:cNvSpPr txBox="1"/>
          <p:nvPr/>
        </p:nvSpPr>
        <p:spPr>
          <a:xfrm>
            <a:off x="1600200" y="2587752"/>
            <a:ext cx="9875520" cy="658368"/>
          </a:xfrm>
          <a:prstGeom prst="rect">
            <a:avLst/>
          </a:prstGeom>
          <a:noFill/>
          <a:ln/>
        </p:spPr>
        <p:txBody>
          <a:bodyPr wrap="square" lIns="0" tIns="0" rIns="0" bIns="0" rtlCol="0" anchor="ctr"/>
          <a:lstStyle/>
          <a:p>
            <a:pPr indent="0" marL="0">
              <a:buNone/>
            </a:pPr>
            <a:r>
              <a:rPr lang="en-US" sz="2000" b="1" dirty="0">
                <a:solidFill>
                  <a:schemeClr val="tx1"/>
                </a:solidFill>
              </a:rPr>
              <a:t>Every day… </a:t>
            </a:r>
            <a:pPr indent="0" marL="0">
              <a:buNone/>
            </a:pPr>
            <a:r>
              <a:rPr lang="en-US" sz="2000" dirty="0">
                <a:solidFill>
                  <a:schemeClr val="tx2"/>
                </a:solidFill>
              </a:rPr>
              <a:t>asking for help felt harder than guessing.</a:t>
            </a:r>
            <a:endParaRPr lang="en-US" sz="2000" dirty="0"/>
          </a:p>
        </p:txBody>
      </p:sp>
      <p:sp>
        <p:nvSpPr>
          <p:cNvPr id="10" name="beat 3 circle"/>
          <p:cNvSpPr/>
          <p:nvPr/>
        </p:nvSpPr>
        <p:spPr>
          <a:xfrm>
            <a:off x="685800" y="3483864"/>
            <a:ext cx="658368" cy="658368"/>
          </a:xfrm>
          <a:prstGeom prst="ellipse">
            <a:avLst/>
          </a:prstGeom>
          <a:solidFill>
            <a:schemeClr val="accent1"/>
          </a:solidFill>
          <a:ln/>
        </p:spPr>
      </p:sp>
      <p:pic>
        <p:nvPicPr>
          <p:cNvPr id="11" name="beat 3 icon" descr="preencoded.png">    </p:cNvPr>
          <p:cNvPicPr>
            <a:picLocks noChangeAspect="1"/>
          </p:cNvPicPr>
          <p:nvPr/>
        </p:nvPicPr>
        <p:blipFill>
          <a:blip r:embed="rId3"/>
          <a:stretch>
            <a:fillRect/>
          </a:stretch>
        </p:blipFill>
        <p:spPr>
          <a:xfrm>
            <a:off x="830641" y="3628705"/>
            <a:ext cx="368686" cy="368686"/>
          </a:xfrm>
          <a:prstGeom prst="rect">
            <a:avLst/>
          </a:prstGeom>
        </p:spPr>
      </p:pic>
      <p:sp>
        <p:nvSpPr>
          <p:cNvPr id="12" name="beat text 3"/>
          <p:cNvSpPr txBox="1"/>
          <p:nvPr/>
        </p:nvSpPr>
        <p:spPr>
          <a:xfrm>
            <a:off x="1600200" y="3483864"/>
            <a:ext cx="9875520" cy="658368"/>
          </a:xfrm>
          <a:prstGeom prst="rect">
            <a:avLst/>
          </a:prstGeom>
          <a:noFill/>
          <a:ln/>
        </p:spPr>
        <p:txBody>
          <a:bodyPr wrap="square" lIns="0" tIns="0" rIns="0" bIns="0" rtlCol="0" anchor="ctr"/>
          <a:lstStyle/>
          <a:p>
            <a:pPr indent="0" marL="0">
              <a:buNone/>
            </a:pPr>
            <a:r>
              <a:rPr lang="en-US" sz="2000" b="1" dirty="0">
                <a:solidFill>
                  <a:schemeClr val="tx1"/>
                </a:solidFill>
              </a:rPr>
              <a:t>One day… </a:t>
            </a:r>
            <a:pPr indent="0" marL="0">
              <a:buNone/>
            </a:pPr>
            <a:r>
              <a:rPr lang="en-US" sz="2000" dirty="0">
                <a:solidFill>
                  <a:schemeClr val="tx2"/>
                </a:solidFill>
              </a:rPr>
              <a:t>three plush friends sat down at the table, and they could see and hear.</a:t>
            </a:r>
            <a:endParaRPr lang="en-US" sz="2000" dirty="0"/>
          </a:p>
        </p:txBody>
      </p:sp>
      <p:sp>
        <p:nvSpPr>
          <p:cNvPr id="13" name="beat 4 circle"/>
          <p:cNvSpPr/>
          <p:nvPr/>
        </p:nvSpPr>
        <p:spPr>
          <a:xfrm>
            <a:off x="685800" y="4379976"/>
            <a:ext cx="658368" cy="658368"/>
          </a:xfrm>
          <a:prstGeom prst="ellipse">
            <a:avLst/>
          </a:prstGeom>
          <a:solidFill>
            <a:schemeClr val="tx1"/>
          </a:solidFill>
          <a:ln/>
        </p:spPr>
      </p:sp>
      <p:pic>
        <p:nvPicPr>
          <p:cNvPr id="14" name="beat 4 icon" descr="preencoded.png">    </p:cNvPr>
          <p:cNvPicPr>
            <a:picLocks noChangeAspect="1"/>
          </p:cNvPicPr>
          <p:nvPr/>
        </p:nvPicPr>
        <p:blipFill>
          <a:blip r:embed="rId4"/>
          <a:stretch>
            <a:fillRect/>
          </a:stretch>
        </p:blipFill>
        <p:spPr>
          <a:xfrm>
            <a:off x="830641" y="4524817"/>
            <a:ext cx="368686" cy="368686"/>
          </a:xfrm>
          <a:prstGeom prst="rect">
            <a:avLst/>
          </a:prstGeom>
        </p:spPr>
      </p:pic>
      <p:sp>
        <p:nvSpPr>
          <p:cNvPr id="15" name="beat text 4"/>
          <p:cNvSpPr txBox="1"/>
          <p:nvPr/>
        </p:nvSpPr>
        <p:spPr>
          <a:xfrm>
            <a:off x="1600200" y="4379976"/>
            <a:ext cx="9875520" cy="658368"/>
          </a:xfrm>
          <a:prstGeom prst="rect">
            <a:avLst/>
          </a:prstGeom>
          <a:noFill/>
          <a:ln/>
        </p:spPr>
        <p:txBody>
          <a:bodyPr wrap="square" lIns="0" tIns="0" rIns="0" bIns="0" rtlCol="0" anchor="ctr"/>
          <a:lstStyle/>
          <a:p>
            <a:pPr indent="0" marL="0">
              <a:buNone/>
            </a:pPr>
            <a:r>
              <a:rPr lang="en-US" sz="2000" b="1" dirty="0">
                <a:solidFill>
                  <a:schemeClr val="tx1"/>
                </a:solidFill>
              </a:rPr>
              <a:t>Because of that… </a:t>
            </a:r>
            <a:pPr indent="0" marL="0">
              <a:buNone/>
            </a:pPr>
            <a:r>
              <a:rPr lang="en-US" sz="2000" dirty="0">
                <a:solidFill>
                  <a:schemeClr val="tx2"/>
                </a:solidFill>
              </a:rPr>
              <a:t>the child got to ask questions, explain answers, and teach a curious dinosaur.</a:t>
            </a:r>
            <a:endParaRPr lang="en-US" sz="2000" dirty="0"/>
          </a:p>
        </p:txBody>
      </p:sp>
      <p:sp>
        <p:nvSpPr>
          <p:cNvPr id="16" name="beat 5 circle"/>
          <p:cNvSpPr/>
          <p:nvPr/>
        </p:nvSpPr>
        <p:spPr>
          <a:xfrm>
            <a:off x="685800" y="5276088"/>
            <a:ext cx="658368" cy="658368"/>
          </a:xfrm>
          <a:prstGeom prst="ellipse">
            <a:avLst/>
          </a:prstGeom>
          <a:solidFill>
            <a:schemeClr val="tx1"/>
          </a:solidFill>
          <a:ln/>
        </p:spPr>
      </p:sp>
      <p:pic>
        <p:nvPicPr>
          <p:cNvPr id="17" name="beat 5 icon" descr="preencoded.png">    </p:cNvPr>
          <p:cNvPicPr>
            <a:picLocks noChangeAspect="1"/>
          </p:cNvPicPr>
          <p:nvPr/>
        </p:nvPicPr>
        <p:blipFill>
          <a:blip r:embed="rId5"/>
          <a:stretch>
            <a:fillRect/>
          </a:stretch>
        </p:blipFill>
        <p:spPr>
          <a:xfrm>
            <a:off x="830641" y="5420929"/>
            <a:ext cx="368686" cy="368686"/>
          </a:xfrm>
          <a:prstGeom prst="rect">
            <a:avLst/>
          </a:prstGeom>
        </p:spPr>
      </p:pic>
      <p:sp>
        <p:nvSpPr>
          <p:cNvPr id="18" name="beat text 5"/>
          <p:cNvSpPr txBox="1"/>
          <p:nvPr/>
        </p:nvSpPr>
        <p:spPr>
          <a:xfrm>
            <a:off x="1600200" y="5276088"/>
            <a:ext cx="9875520" cy="658368"/>
          </a:xfrm>
          <a:prstGeom prst="rect">
            <a:avLst/>
          </a:prstGeom>
          <a:noFill/>
          <a:ln/>
        </p:spPr>
        <p:txBody>
          <a:bodyPr wrap="square" lIns="0" tIns="0" rIns="0" bIns="0" rtlCol="0" anchor="ctr"/>
          <a:lstStyle/>
          <a:p>
            <a:pPr indent="0" marL="0">
              <a:buNone/>
            </a:pPr>
            <a:r>
              <a:rPr lang="en-US" sz="2000" b="1" dirty="0">
                <a:solidFill>
                  <a:schemeClr val="tx1"/>
                </a:solidFill>
              </a:rPr>
              <a:t>Until finally… </a:t>
            </a:r>
            <a:pPr indent="0" marL="0">
              <a:buNone/>
            </a:pPr>
            <a:r>
              <a:rPr lang="en-US" sz="2000" dirty="0">
                <a:solidFill>
                  <a:schemeClr val="tx2"/>
                </a:solidFill>
              </a:rPr>
              <a:t>homework felt like playing with friends, and the child became the teacher.</a:t>
            </a: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MEET THE CAST</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Same hardware, three different hearts</a:t>
            </a:r>
            <a:endParaRPr lang="en-US" sz="3600" dirty="0"/>
          </a:p>
        </p:txBody>
      </p:sp>
      <p:sp>
        <p:nvSpPr>
          <p:cNvPr id="4" name="Dyno card"/>
          <p:cNvSpPr/>
          <p:nvPr/>
        </p:nvSpPr>
        <p:spPr>
          <a:xfrm>
            <a:off x="548640" y="1691640"/>
            <a:ext cx="3520440" cy="4023360"/>
          </a:xfrm>
          <a:prstGeom prst="roundRect">
            <a:avLst>
              <a:gd name="adj" fmla="val 5195"/>
            </a:avLst>
          </a:prstGeom>
          <a:solidFill>
            <a:srgbClr val="E6F1E2"/>
          </a:solidFill>
          <a:ln/>
          <a:effectLst>
            <a:outerShdw sx="100000" sy="100000" kx="0" ky="0" algn="bl" rotWithShape="0" blurRad="101600" dist="25400" dir="5400000">
              <a:srgbClr val="1B1F4B">
                <a:alpha val="14000"/>
              </a:srgbClr>
            </a:outerShdw>
          </a:effectLst>
        </p:spPr>
      </p:sp>
      <p:sp>
        <p:nvSpPr>
          <p:cNvPr id="5" name="Dyno circle"/>
          <p:cNvSpPr/>
          <p:nvPr/>
        </p:nvSpPr>
        <p:spPr>
          <a:xfrm>
            <a:off x="868680" y="1965960"/>
            <a:ext cx="960120" cy="960120"/>
          </a:xfrm>
          <a:prstGeom prst="ellipse">
            <a:avLst/>
          </a:prstGeom>
          <a:solidFill>
            <a:schemeClr val="accent2"/>
          </a:solidFill>
          <a:ln/>
        </p:spPr>
      </p:sp>
      <p:pic>
        <p:nvPicPr>
          <p:cNvPr id="6" name="Dyno icon" descr="preencoded.png">    </p:cNvPr>
          <p:cNvPicPr>
            <a:picLocks noChangeAspect="1"/>
          </p:cNvPicPr>
          <p:nvPr/>
        </p:nvPicPr>
        <p:blipFill>
          <a:blip r:embed="rId1"/>
          <a:stretch>
            <a:fillRect/>
          </a:stretch>
        </p:blipFill>
        <p:spPr>
          <a:xfrm>
            <a:off x="1079906" y="2177186"/>
            <a:ext cx="537667" cy="537667"/>
          </a:xfrm>
          <a:prstGeom prst="rect">
            <a:avLst/>
          </a:prstGeom>
        </p:spPr>
      </p:pic>
      <p:sp>
        <p:nvSpPr>
          <p:cNvPr id="7" name="Text 4"/>
          <p:cNvSpPr txBox="1"/>
          <p:nvPr/>
        </p:nvSpPr>
        <p:spPr>
          <a:xfrm>
            <a:off x="2011680" y="1965960"/>
            <a:ext cx="1874520" cy="566928"/>
          </a:xfrm>
          <a:prstGeom prst="rect">
            <a:avLst/>
          </a:prstGeom>
          <a:noFill/>
          <a:ln/>
        </p:spPr>
        <p:txBody>
          <a:bodyPr wrap="square" lIns="0" tIns="0" rIns="0" bIns="0" rtlCol="0" anchor="ctr"/>
          <a:lstStyle/>
          <a:p>
            <a:pPr indent="0" marL="0">
              <a:buNone/>
            </a:pPr>
            <a:r>
              <a:rPr lang="en-US" sz="3000" b="1" dirty="0">
                <a:solidFill>
                  <a:schemeClr val="accent2"/>
                </a:solidFill>
                <a:latin typeface="Century Schoolbook" pitchFamily="34" charset="0"/>
                <a:ea typeface="Century Schoolbook" pitchFamily="34" charset="-122"/>
                <a:cs typeface="Century Schoolbook" pitchFamily="34" charset="-120"/>
              </a:rPr>
              <a:t>Dyno</a:t>
            </a:r>
            <a:endParaRPr lang="en-US" sz="3000" dirty="0"/>
          </a:p>
        </p:txBody>
      </p:sp>
      <p:sp>
        <p:nvSpPr>
          <p:cNvPr id="8" name="Text 5"/>
          <p:cNvSpPr txBox="1"/>
          <p:nvPr/>
        </p:nvSpPr>
        <p:spPr>
          <a:xfrm>
            <a:off x="2011680" y="2514600"/>
            <a:ext cx="1874520" cy="411480"/>
          </a:xfrm>
          <a:prstGeom prst="rect">
            <a:avLst/>
          </a:prstGeom>
          <a:noFill/>
          <a:ln/>
        </p:spPr>
        <p:txBody>
          <a:bodyPr wrap="square" lIns="0" tIns="0" rIns="0" bIns="0" rtlCol="0" anchor="t"/>
          <a:lstStyle/>
          <a:p>
            <a:pPr indent="0" marL="0">
              <a:buNone/>
            </a:pPr>
            <a:r>
              <a:rPr lang="en-US" sz="1400" dirty="0">
                <a:solidFill>
                  <a:schemeClr val="tx2"/>
                </a:solidFill>
              </a:rPr>
              <a:t>a green dinosaur</a:t>
            </a:r>
            <a:endParaRPr lang="en-US" sz="1400" dirty="0"/>
          </a:p>
        </p:txBody>
      </p:sp>
      <p:sp>
        <p:nvSpPr>
          <p:cNvPr id="9" name="Text 6"/>
          <p:cNvSpPr txBox="1"/>
          <p:nvPr/>
        </p:nvSpPr>
        <p:spPr>
          <a:xfrm>
            <a:off x="868680" y="3200400"/>
            <a:ext cx="2880360" cy="411480"/>
          </a:xfrm>
          <a:prstGeom prst="rect">
            <a:avLst/>
          </a:prstGeom>
          <a:noFill/>
          <a:ln/>
        </p:spPr>
        <p:txBody>
          <a:bodyPr wrap="square" lIns="0" tIns="0" rIns="0" bIns="0" rtlCol="0" anchor="ctr"/>
          <a:lstStyle/>
          <a:p>
            <a:pPr indent="0" marL="0">
              <a:buNone/>
            </a:pPr>
            <a:r>
              <a:rPr lang="en-US" sz="1800" b="1" dirty="0">
                <a:solidFill>
                  <a:schemeClr val="tx1"/>
                </a:solidFill>
              </a:rPr>
              <a:t>The curious one</a:t>
            </a:r>
            <a:endParaRPr lang="en-US" sz="1800" dirty="0"/>
          </a:p>
        </p:txBody>
      </p:sp>
      <p:sp>
        <p:nvSpPr>
          <p:cNvPr id="10" name="Text 7"/>
          <p:cNvSpPr txBox="1"/>
          <p:nvPr/>
        </p:nvSpPr>
        <p:spPr>
          <a:xfrm>
            <a:off x="868680" y="3611880"/>
            <a:ext cx="2880360" cy="1005840"/>
          </a:xfrm>
          <a:prstGeom prst="rect">
            <a:avLst/>
          </a:prstGeom>
          <a:noFill/>
          <a:ln/>
        </p:spPr>
        <p:txBody>
          <a:bodyPr wrap="square" lIns="0" tIns="0" rIns="0" bIns="0" rtlCol="0" anchor="t"/>
          <a:lstStyle/>
          <a:p>
            <a:pPr indent="0" marL="0">
              <a:buNone/>
            </a:pPr>
            <a:r>
              <a:rPr lang="en-US" sz="1600" dirty="0">
                <a:solidFill>
                  <a:schemeClr val="tx1"/>
                </a:solidFill>
              </a:rPr>
              <a:t>Asks the questions a shy kid might not.</a:t>
            </a:r>
            <a:endParaRPr lang="en-US" sz="1600" dirty="0"/>
          </a:p>
        </p:txBody>
      </p:sp>
      <p:sp>
        <p:nvSpPr>
          <p:cNvPr id="11" name="Text 8"/>
          <p:cNvSpPr txBox="1"/>
          <p:nvPr/>
        </p:nvSpPr>
        <p:spPr>
          <a:xfrm>
            <a:off x="868680" y="4709160"/>
            <a:ext cx="2880360" cy="731520"/>
          </a:xfrm>
          <a:prstGeom prst="rect">
            <a:avLst/>
          </a:prstGeom>
          <a:noFill/>
          <a:ln/>
        </p:spPr>
        <p:txBody>
          <a:bodyPr wrap="square" lIns="0" tIns="0" rIns="0" bIns="0" rtlCol="0" anchor="t"/>
          <a:lstStyle/>
          <a:p>
            <a:pPr indent="0" marL="0">
              <a:buNone/>
            </a:pPr>
            <a:r>
              <a:rPr lang="en-US" sz="1800" i="1" dirty="0">
                <a:solidFill>
                  <a:schemeClr val="accent2"/>
                </a:solidFill>
                <a:latin typeface="Century Schoolbook" pitchFamily="34" charset="0"/>
                <a:ea typeface="Century Schoolbook" pitchFamily="34" charset="-122"/>
                <a:cs typeface="Century Schoolbook" pitchFamily="34" charset="-120"/>
              </a:rPr>
              <a:t>“Rawr! What's that?”</a:t>
            </a:r>
            <a:endParaRPr lang="en-US" sz="1800" dirty="0"/>
          </a:p>
        </p:txBody>
      </p:sp>
      <p:sp>
        <p:nvSpPr>
          <p:cNvPr id="12" name="Sage card"/>
          <p:cNvSpPr/>
          <p:nvPr/>
        </p:nvSpPr>
        <p:spPr>
          <a:xfrm>
            <a:off x="4297680" y="1691640"/>
            <a:ext cx="3520440" cy="4023360"/>
          </a:xfrm>
          <a:prstGeom prst="roundRect">
            <a:avLst>
              <a:gd name="adj" fmla="val 5195"/>
            </a:avLst>
          </a:prstGeom>
          <a:solidFill>
            <a:srgbClr val="FCEADB"/>
          </a:solidFill>
          <a:ln/>
          <a:effectLst>
            <a:outerShdw sx="100000" sy="100000" kx="0" ky="0" algn="bl" rotWithShape="0" blurRad="101600" dist="25400" dir="5400000">
              <a:srgbClr val="1B1F4B">
                <a:alpha val="14000"/>
              </a:srgbClr>
            </a:outerShdw>
          </a:effectLst>
        </p:spPr>
      </p:sp>
      <p:sp>
        <p:nvSpPr>
          <p:cNvPr id="13" name="Sage circle"/>
          <p:cNvSpPr/>
          <p:nvPr/>
        </p:nvSpPr>
        <p:spPr>
          <a:xfrm>
            <a:off x="4617720" y="1965960"/>
            <a:ext cx="960120" cy="960120"/>
          </a:xfrm>
          <a:prstGeom prst="ellipse">
            <a:avLst/>
          </a:prstGeom>
          <a:solidFill>
            <a:schemeClr val="accent3"/>
          </a:solidFill>
          <a:ln/>
        </p:spPr>
      </p:sp>
      <p:pic>
        <p:nvPicPr>
          <p:cNvPr id="14" name="Sage icon" descr="preencoded.png">    </p:cNvPr>
          <p:cNvPicPr>
            <a:picLocks noChangeAspect="1"/>
          </p:cNvPicPr>
          <p:nvPr/>
        </p:nvPicPr>
        <p:blipFill>
          <a:blip r:embed="rId2"/>
          <a:stretch>
            <a:fillRect/>
          </a:stretch>
        </p:blipFill>
        <p:spPr>
          <a:xfrm>
            <a:off x="4828946" y="2177186"/>
            <a:ext cx="537667" cy="537667"/>
          </a:xfrm>
          <a:prstGeom prst="rect">
            <a:avLst/>
          </a:prstGeom>
        </p:spPr>
      </p:pic>
      <p:sp>
        <p:nvSpPr>
          <p:cNvPr id="15" name="Text 11"/>
          <p:cNvSpPr txBox="1"/>
          <p:nvPr/>
        </p:nvSpPr>
        <p:spPr>
          <a:xfrm>
            <a:off x="5760720" y="1965960"/>
            <a:ext cx="1874520" cy="566928"/>
          </a:xfrm>
          <a:prstGeom prst="rect">
            <a:avLst/>
          </a:prstGeom>
          <a:noFill/>
          <a:ln/>
        </p:spPr>
        <p:txBody>
          <a:bodyPr wrap="square" lIns="0" tIns="0" rIns="0" bIns="0" rtlCol="0" anchor="ctr"/>
          <a:lstStyle/>
          <a:p>
            <a:pPr indent="0" marL="0">
              <a:buNone/>
            </a:pPr>
            <a:r>
              <a:rPr lang="en-US" sz="3000" b="1" dirty="0">
                <a:solidFill>
                  <a:schemeClr val="accent3"/>
                </a:solidFill>
                <a:latin typeface="Century Schoolbook" pitchFamily="34" charset="0"/>
                <a:ea typeface="Century Schoolbook" pitchFamily="34" charset="-122"/>
                <a:cs typeface="Century Schoolbook" pitchFamily="34" charset="-120"/>
              </a:rPr>
              <a:t>Sage</a:t>
            </a:r>
            <a:endParaRPr lang="en-US" sz="3000" dirty="0"/>
          </a:p>
        </p:txBody>
      </p:sp>
      <p:sp>
        <p:nvSpPr>
          <p:cNvPr id="16" name="Text 12"/>
          <p:cNvSpPr txBox="1"/>
          <p:nvPr/>
        </p:nvSpPr>
        <p:spPr>
          <a:xfrm>
            <a:off x="5760720" y="2514600"/>
            <a:ext cx="1874520" cy="411480"/>
          </a:xfrm>
          <a:prstGeom prst="rect">
            <a:avLst/>
          </a:prstGeom>
          <a:noFill/>
          <a:ln/>
        </p:spPr>
        <p:txBody>
          <a:bodyPr wrap="square" lIns="0" tIns="0" rIns="0" bIns="0" rtlCol="0" anchor="t"/>
          <a:lstStyle/>
          <a:p>
            <a:pPr indent="0" marL="0">
              <a:buNone/>
            </a:pPr>
            <a:r>
              <a:rPr lang="en-US" sz="1400" dirty="0">
                <a:solidFill>
                  <a:schemeClr val="tx2"/>
                </a:solidFill>
              </a:rPr>
              <a:t>a baby in a unicorn suit</a:t>
            </a:r>
            <a:endParaRPr lang="en-US" sz="1400" dirty="0"/>
          </a:p>
        </p:txBody>
      </p:sp>
      <p:sp>
        <p:nvSpPr>
          <p:cNvPr id="17" name="Text 13"/>
          <p:cNvSpPr txBox="1"/>
          <p:nvPr/>
        </p:nvSpPr>
        <p:spPr>
          <a:xfrm>
            <a:off x="4617720" y="3200400"/>
            <a:ext cx="2880360" cy="411480"/>
          </a:xfrm>
          <a:prstGeom prst="rect">
            <a:avLst/>
          </a:prstGeom>
          <a:noFill/>
          <a:ln/>
        </p:spPr>
        <p:txBody>
          <a:bodyPr wrap="square" lIns="0" tIns="0" rIns="0" bIns="0" rtlCol="0" anchor="ctr"/>
          <a:lstStyle/>
          <a:p>
            <a:pPr indent="0" marL="0">
              <a:buNone/>
            </a:pPr>
            <a:r>
              <a:rPr lang="en-US" sz="1800" b="1" dirty="0">
                <a:solidFill>
                  <a:schemeClr val="tx1"/>
                </a:solidFill>
              </a:rPr>
              <a:t>The careful one</a:t>
            </a:r>
            <a:endParaRPr lang="en-US" sz="1800" dirty="0"/>
          </a:p>
        </p:txBody>
      </p:sp>
      <p:sp>
        <p:nvSpPr>
          <p:cNvPr id="18" name="Text 14"/>
          <p:cNvSpPr txBox="1"/>
          <p:nvPr/>
        </p:nvSpPr>
        <p:spPr>
          <a:xfrm>
            <a:off x="4617720" y="3611880"/>
            <a:ext cx="2880360" cy="1005840"/>
          </a:xfrm>
          <a:prstGeom prst="rect">
            <a:avLst/>
          </a:prstGeom>
          <a:noFill/>
          <a:ln/>
        </p:spPr>
        <p:txBody>
          <a:bodyPr wrap="square" lIns="0" tIns="0" rIns="0" bIns="0" rtlCol="0" anchor="t"/>
          <a:lstStyle/>
          <a:p>
            <a:pPr indent="0" marL="0">
              <a:buNone/>
            </a:pPr>
            <a:r>
              <a:rPr lang="en-US" sz="1600" dirty="0">
                <a:solidFill>
                  <a:schemeClr val="tx1"/>
                </a:solidFill>
              </a:rPr>
              <a:t>Reads, explains, and gives hints, never just the answer.</a:t>
            </a:r>
            <a:endParaRPr lang="en-US" sz="1600" dirty="0"/>
          </a:p>
        </p:txBody>
      </p:sp>
      <p:sp>
        <p:nvSpPr>
          <p:cNvPr id="19" name="Text 15"/>
          <p:cNvSpPr txBox="1"/>
          <p:nvPr/>
        </p:nvSpPr>
        <p:spPr>
          <a:xfrm>
            <a:off x="4617720" y="4709160"/>
            <a:ext cx="2880360" cy="731520"/>
          </a:xfrm>
          <a:prstGeom prst="rect">
            <a:avLst/>
          </a:prstGeom>
          <a:noFill/>
          <a:ln/>
        </p:spPr>
        <p:txBody>
          <a:bodyPr wrap="square" lIns="0" tIns="0" rIns="0" bIns="0" rtlCol="0" anchor="t"/>
          <a:lstStyle/>
          <a:p>
            <a:pPr indent="0" marL="0">
              <a:buNone/>
            </a:pPr>
            <a:r>
              <a:rPr lang="en-US" sz="1800" i="1" dirty="0">
                <a:solidFill>
                  <a:schemeClr val="accent3"/>
                </a:solidFill>
                <a:latin typeface="Century Schoolbook" pitchFamily="34" charset="0"/>
                <a:ea typeface="Century Schoolbook" pitchFamily="34" charset="-122"/>
                <a:cs typeface="Century Schoolbook" pitchFamily="34" charset="-120"/>
              </a:rPr>
              <a:t>“Let's figure it out together.”</a:t>
            </a:r>
            <a:endParaRPr lang="en-US" sz="1800" dirty="0"/>
          </a:p>
        </p:txBody>
      </p:sp>
      <p:sp>
        <p:nvSpPr>
          <p:cNvPr id="20" name="Penny card"/>
          <p:cNvSpPr/>
          <p:nvPr/>
        </p:nvSpPr>
        <p:spPr>
          <a:xfrm>
            <a:off x="8046720" y="1691640"/>
            <a:ext cx="3520440" cy="4023360"/>
          </a:xfrm>
          <a:prstGeom prst="roundRect">
            <a:avLst>
              <a:gd name="adj" fmla="val 5195"/>
            </a:avLst>
          </a:prstGeom>
          <a:solidFill>
            <a:srgbClr val="E2EBF8"/>
          </a:solidFill>
          <a:ln/>
          <a:effectLst>
            <a:outerShdw sx="100000" sy="100000" kx="0" ky="0" algn="bl" rotWithShape="0" blurRad="101600" dist="25400" dir="5400000">
              <a:srgbClr val="1B1F4B">
                <a:alpha val="14000"/>
              </a:srgbClr>
            </a:outerShdw>
          </a:effectLst>
        </p:spPr>
      </p:sp>
      <p:sp>
        <p:nvSpPr>
          <p:cNvPr id="21" name="Penny circle"/>
          <p:cNvSpPr/>
          <p:nvPr/>
        </p:nvSpPr>
        <p:spPr>
          <a:xfrm>
            <a:off x="8366760" y="1965960"/>
            <a:ext cx="960120" cy="960120"/>
          </a:xfrm>
          <a:prstGeom prst="ellipse">
            <a:avLst/>
          </a:prstGeom>
          <a:solidFill>
            <a:schemeClr val="accent4"/>
          </a:solidFill>
          <a:ln/>
        </p:spPr>
      </p:sp>
      <p:pic>
        <p:nvPicPr>
          <p:cNvPr id="22" name="Penny icon" descr="preencoded.png">    </p:cNvPr>
          <p:cNvPicPr>
            <a:picLocks noChangeAspect="1"/>
          </p:cNvPicPr>
          <p:nvPr/>
        </p:nvPicPr>
        <p:blipFill>
          <a:blip r:embed="rId3"/>
          <a:stretch>
            <a:fillRect/>
          </a:stretch>
        </p:blipFill>
        <p:spPr>
          <a:xfrm>
            <a:off x="8577986" y="2177186"/>
            <a:ext cx="537667" cy="537667"/>
          </a:xfrm>
          <a:prstGeom prst="rect">
            <a:avLst/>
          </a:prstGeom>
        </p:spPr>
      </p:pic>
      <p:sp>
        <p:nvSpPr>
          <p:cNvPr id="23" name="Text 18"/>
          <p:cNvSpPr txBox="1"/>
          <p:nvPr/>
        </p:nvSpPr>
        <p:spPr>
          <a:xfrm>
            <a:off x="9509760" y="1965960"/>
            <a:ext cx="1874520" cy="566928"/>
          </a:xfrm>
          <a:prstGeom prst="rect">
            <a:avLst/>
          </a:prstGeom>
          <a:noFill/>
          <a:ln/>
        </p:spPr>
        <p:txBody>
          <a:bodyPr wrap="square" lIns="0" tIns="0" rIns="0" bIns="0" rtlCol="0" anchor="ctr"/>
          <a:lstStyle/>
          <a:p>
            <a:pPr indent="0" marL="0">
              <a:buNone/>
            </a:pPr>
            <a:r>
              <a:rPr lang="en-US" sz="3000" b="1" dirty="0">
                <a:solidFill>
                  <a:schemeClr val="accent4"/>
                </a:solidFill>
                <a:latin typeface="Century Schoolbook" pitchFamily="34" charset="0"/>
                <a:ea typeface="Century Schoolbook" pitchFamily="34" charset="-122"/>
                <a:cs typeface="Century Schoolbook" pitchFamily="34" charset="-120"/>
              </a:rPr>
              <a:t>Penny</a:t>
            </a:r>
            <a:endParaRPr lang="en-US" sz="3000" dirty="0"/>
          </a:p>
        </p:txBody>
      </p:sp>
      <p:sp>
        <p:nvSpPr>
          <p:cNvPr id="24" name="Text 19"/>
          <p:cNvSpPr txBox="1"/>
          <p:nvPr/>
        </p:nvSpPr>
        <p:spPr>
          <a:xfrm>
            <a:off x="9509760" y="2514600"/>
            <a:ext cx="1874520" cy="411480"/>
          </a:xfrm>
          <a:prstGeom prst="rect">
            <a:avLst/>
          </a:prstGeom>
          <a:noFill/>
          <a:ln/>
        </p:spPr>
        <p:txBody>
          <a:bodyPr wrap="square" lIns="0" tIns="0" rIns="0" bIns="0" rtlCol="0" anchor="t"/>
          <a:lstStyle/>
          <a:p>
            <a:pPr indent="0" marL="0">
              <a:buNone/>
            </a:pPr>
            <a:r>
              <a:rPr lang="en-US" sz="1400" dirty="0">
                <a:solidFill>
                  <a:schemeClr val="tx2"/>
                </a:solidFill>
              </a:rPr>
              <a:t>a penguin in a woolly hat</a:t>
            </a:r>
            <a:endParaRPr lang="en-US" sz="1400" dirty="0"/>
          </a:p>
        </p:txBody>
      </p:sp>
      <p:sp>
        <p:nvSpPr>
          <p:cNvPr id="25" name="Text 20"/>
          <p:cNvSpPr txBox="1"/>
          <p:nvPr/>
        </p:nvSpPr>
        <p:spPr>
          <a:xfrm>
            <a:off x="8366760" y="3200400"/>
            <a:ext cx="2880360" cy="411480"/>
          </a:xfrm>
          <a:prstGeom prst="rect">
            <a:avLst/>
          </a:prstGeom>
          <a:noFill/>
          <a:ln/>
        </p:spPr>
        <p:txBody>
          <a:bodyPr wrap="square" lIns="0" tIns="0" rIns="0" bIns="0" rtlCol="0" anchor="ctr"/>
          <a:lstStyle/>
          <a:p>
            <a:pPr indent="0" marL="0">
              <a:buNone/>
            </a:pPr>
            <a:r>
              <a:rPr lang="en-US" sz="1800" b="1" dirty="0">
                <a:solidFill>
                  <a:schemeClr val="tx1"/>
                </a:solidFill>
              </a:rPr>
              <a:t>The imaginative one</a:t>
            </a:r>
            <a:endParaRPr lang="en-US" sz="1800" dirty="0"/>
          </a:p>
        </p:txBody>
      </p:sp>
      <p:sp>
        <p:nvSpPr>
          <p:cNvPr id="26" name="Text 21"/>
          <p:cNvSpPr txBox="1"/>
          <p:nvPr/>
        </p:nvSpPr>
        <p:spPr>
          <a:xfrm>
            <a:off x="8366760" y="3611880"/>
            <a:ext cx="2880360" cy="1005840"/>
          </a:xfrm>
          <a:prstGeom prst="rect">
            <a:avLst/>
          </a:prstGeom>
          <a:noFill/>
          <a:ln/>
        </p:spPr>
        <p:txBody>
          <a:bodyPr wrap="square" lIns="0" tIns="0" rIns="0" bIns="0" rtlCol="0" anchor="t"/>
          <a:lstStyle/>
          <a:p>
            <a:pPr indent="0" marL="0">
              <a:buNone/>
            </a:pPr>
            <a:r>
              <a:rPr lang="en-US" sz="1600" dirty="0">
                <a:solidFill>
                  <a:schemeClr val="tx1"/>
                </a:solidFill>
              </a:rPr>
              <a:t>Turns right answers into wordplay and make-believe.</a:t>
            </a:r>
            <a:endParaRPr lang="en-US" sz="1600" dirty="0"/>
          </a:p>
        </p:txBody>
      </p:sp>
      <p:sp>
        <p:nvSpPr>
          <p:cNvPr id="27" name="Text 22"/>
          <p:cNvSpPr txBox="1"/>
          <p:nvPr/>
        </p:nvSpPr>
        <p:spPr>
          <a:xfrm>
            <a:off x="8366760" y="4709160"/>
            <a:ext cx="2880360" cy="731520"/>
          </a:xfrm>
          <a:prstGeom prst="rect">
            <a:avLst/>
          </a:prstGeom>
          <a:noFill/>
          <a:ln/>
        </p:spPr>
        <p:txBody>
          <a:bodyPr wrap="square" lIns="0" tIns="0" rIns="0" bIns="0" rtlCol="0" anchor="t"/>
          <a:lstStyle/>
          <a:p>
            <a:pPr indent="0" marL="0">
              <a:buNone/>
            </a:pPr>
            <a:r>
              <a:rPr lang="en-US" sz="1800" i="1" dirty="0">
                <a:solidFill>
                  <a:schemeClr val="accent4"/>
                </a:solidFill>
                <a:latin typeface="Century Schoolbook" pitchFamily="34" charset="0"/>
                <a:ea typeface="Century Schoolbook" pitchFamily="34" charset="-122"/>
                <a:cs typeface="Century Schoolbook" pitchFamily="34" charset="-120"/>
              </a:rPr>
              <a:t>“Imagine numbers in party hats!”</a:t>
            </a:r>
            <a:endParaRPr lang="en-US" sz="18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34"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accent1"/>
                </a:solidFill>
              </a:rPr>
              <a:t>THE MAGIC MOMENT</a:t>
            </a:r>
            <a:endParaRPr lang="en-US" sz="1200" dirty="0"/>
          </a:p>
        </p:txBody>
      </p:sp>
      <p:sp>
        <p:nvSpPr>
          <p:cNvPr id="3" name="Text 0"/>
          <p:cNvSpPr/>
          <p:nvPr>
            <p:ph idx="135"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child becomes the teacher</a:t>
            </a:r>
            <a:endParaRPr lang="en-US" sz="3600" dirty="0"/>
          </a:p>
        </p:txBody>
      </p:sp>
      <p:sp>
        <p:nvSpPr>
          <p:cNvPr id="4" name="bubble 1"/>
          <p:cNvSpPr/>
          <p:nvPr/>
        </p:nvSpPr>
        <p:spPr>
          <a:xfrm>
            <a:off x="2194560" y="1645920"/>
            <a:ext cx="5120640" cy="713232"/>
          </a:xfrm>
          <a:prstGeom prst="roundRect">
            <a:avLst>
              <a:gd name="adj" fmla="val 25641"/>
            </a:avLst>
          </a:prstGeom>
          <a:solidFill>
            <a:schemeClr val="accent2"/>
          </a:solidFill>
          <a:ln/>
        </p:spPr>
      </p:sp>
      <p:sp>
        <p:nvSpPr>
          <p:cNvPr id="5" name="Text 3"/>
          <p:cNvSpPr txBox="1"/>
          <p:nvPr/>
        </p:nvSpPr>
        <p:spPr>
          <a:xfrm>
            <a:off x="2423160" y="1645920"/>
            <a:ext cx="4663440" cy="713232"/>
          </a:xfrm>
          <a:prstGeom prst="rect">
            <a:avLst/>
          </a:prstGeom>
          <a:noFill/>
          <a:ln/>
        </p:spPr>
        <p:txBody>
          <a:bodyPr wrap="square" lIns="0" tIns="0" rIns="0" bIns="0" rtlCol="0" anchor="ctr"/>
          <a:lstStyle/>
          <a:p>
            <a:pPr indent="0" marL="0">
              <a:buNone/>
            </a:pPr>
            <a:r>
              <a:rPr lang="en-US" sz="1800" b="1" dirty="0">
                <a:solidFill>
                  <a:schemeClr val="bg1"/>
                </a:solidFill>
              </a:rPr>
              <a:t>Dyno:  </a:t>
            </a:r>
            <a:pPr indent="0" marL="0">
              <a:buNone/>
            </a:pPr>
            <a:r>
              <a:rPr lang="en-US" sz="1800" dirty="0">
                <a:solidFill>
                  <a:schemeClr val="bg1"/>
                </a:solidFill>
              </a:rPr>
              <a:t>Rawr! What's seven times eight? Can you teach me?</a:t>
            </a:r>
            <a:endParaRPr lang="en-US" sz="1800" dirty="0"/>
          </a:p>
        </p:txBody>
      </p:sp>
      <p:sp>
        <p:nvSpPr>
          <p:cNvPr id="6" name="Dyno 0 circle"/>
          <p:cNvSpPr/>
          <p:nvPr/>
        </p:nvSpPr>
        <p:spPr>
          <a:xfrm>
            <a:off x="1325880" y="1664208"/>
            <a:ext cx="676656" cy="676656"/>
          </a:xfrm>
          <a:prstGeom prst="ellipse">
            <a:avLst/>
          </a:prstGeom>
          <a:solidFill>
            <a:schemeClr val="accent2"/>
          </a:solidFill>
          <a:ln/>
        </p:spPr>
      </p:sp>
      <p:pic>
        <p:nvPicPr>
          <p:cNvPr id="7" name="Dyno 0 icon" descr="preencoded.png">    </p:cNvPr>
          <p:cNvPicPr>
            <a:picLocks noChangeAspect="1"/>
          </p:cNvPicPr>
          <p:nvPr/>
        </p:nvPicPr>
        <p:blipFill>
          <a:blip r:embed="rId1"/>
          <a:stretch>
            <a:fillRect/>
          </a:stretch>
        </p:blipFill>
        <p:spPr>
          <a:xfrm>
            <a:off x="1474744" y="1813072"/>
            <a:ext cx="378927" cy="378927"/>
          </a:xfrm>
          <a:prstGeom prst="rect">
            <a:avLst/>
          </a:prstGeom>
        </p:spPr>
      </p:pic>
      <p:sp>
        <p:nvSpPr>
          <p:cNvPr id="8" name="bubble 2"/>
          <p:cNvSpPr/>
          <p:nvPr/>
        </p:nvSpPr>
        <p:spPr>
          <a:xfrm>
            <a:off x="640080" y="2542032"/>
            <a:ext cx="5120640" cy="713232"/>
          </a:xfrm>
          <a:prstGeom prst="roundRect">
            <a:avLst>
              <a:gd name="adj" fmla="val 25641"/>
            </a:avLst>
          </a:prstGeom>
          <a:solidFill>
            <a:schemeClr val="bg1"/>
          </a:solidFill>
          <a:ln/>
        </p:spPr>
      </p:sp>
      <p:sp>
        <p:nvSpPr>
          <p:cNvPr id="9" name="Text 6"/>
          <p:cNvSpPr txBox="1"/>
          <p:nvPr/>
        </p:nvSpPr>
        <p:spPr>
          <a:xfrm>
            <a:off x="868680" y="2542032"/>
            <a:ext cx="4663440" cy="713232"/>
          </a:xfrm>
          <a:prstGeom prst="rect">
            <a:avLst/>
          </a:prstGeom>
          <a:noFill/>
          <a:ln/>
        </p:spPr>
        <p:txBody>
          <a:bodyPr wrap="square" lIns="0" tIns="0" rIns="0" bIns="0" rtlCol="0" anchor="ctr"/>
          <a:lstStyle/>
          <a:p>
            <a:pPr indent="0" marL="0">
              <a:buNone/>
            </a:pPr>
            <a:r>
              <a:rPr lang="en-US" sz="1800" b="1" dirty="0">
                <a:solidFill>
                  <a:schemeClr val="tx1"/>
                </a:solidFill>
              </a:rPr>
              <a:t>Child:  </a:t>
            </a:r>
            <a:pPr indent="0" marL="0">
              <a:buNone/>
            </a:pPr>
            <a:r>
              <a:rPr lang="en-US" sz="1800" dirty="0">
                <a:solidFill>
                  <a:schemeClr val="tx1"/>
                </a:solidFill>
              </a:rPr>
              <a:t>It's fifty-six! Seven groups of eight.</a:t>
            </a:r>
            <a:endParaRPr lang="en-US" sz="1800" dirty="0"/>
          </a:p>
        </p:txBody>
      </p:sp>
      <p:sp>
        <p:nvSpPr>
          <p:cNvPr id="10" name="bubble 3"/>
          <p:cNvSpPr/>
          <p:nvPr/>
        </p:nvSpPr>
        <p:spPr>
          <a:xfrm>
            <a:off x="2194560" y="3438144"/>
            <a:ext cx="5120640" cy="713232"/>
          </a:xfrm>
          <a:prstGeom prst="roundRect">
            <a:avLst>
              <a:gd name="adj" fmla="val 25641"/>
            </a:avLst>
          </a:prstGeom>
          <a:solidFill>
            <a:schemeClr val="accent3"/>
          </a:solidFill>
          <a:ln/>
        </p:spPr>
      </p:sp>
      <p:sp>
        <p:nvSpPr>
          <p:cNvPr id="11" name="Text 8"/>
          <p:cNvSpPr txBox="1"/>
          <p:nvPr/>
        </p:nvSpPr>
        <p:spPr>
          <a:xfrm>
            <a:off x="2423160" y="3438144"/>
            <a:ext cx="4663440" cy="713232"/>
          </a:xfrm>
          <a:prstGeom prst="rect">
            <a:avLst/>
          </a:prstGeom>
          <a:noFill/>
          <a:ln/>
        </p:spPr>
        <p:txBody>
          <a:bodyPr wrap="square" lIns="0" tIns="0" rIns="0" bIns="0" rtlCol="0" anchor="ctr"/>
          <a:lstStyle/>
          <a:p>
            <a:pPr indent="0" marL="0">
              <a:buNone/>
            </a:pPr>
            <a:r>
              <a:rPr lang="en-US" sz="1800" b="1" dirty="0">
                <a:solidFill>
                  <a:schemeClr val="bg1"/>
                </a:solidFill>
              </a:rPr>
              <a:t>Sage:  </a:t>
            </a:r>
            <a:pPr indent="0" marL="0">
              <a:buNone/>
            </a:pPr>
            <a:r>
              <a:rPr lang="en-US" sz="1800" dirty="0">
                <a:solidFill>
                  <a:schemeClr val="bg1"/>
                </a:solidFill>
              </a:rPr>
              <a:t>That's right, and you explained it perfectly.</a:t>
            </a:r>
            <a:endParaRPr lang="en-US" sz="1800" dirty="0"/>
          </a:p>
        </p:txBody>
      </p:sp>
      <p:sp>
        <p:nvSpPr>
          <p:cNvPr id="12" name="Sage 2 circle"/>
          <p:cNvSpPr/>
          <p:nvPr/>
        </p:nvSpPr>
        <p:spPr>
          <a:xfrm>
            <a:off x="1325880" y="3456432"/>
            <a:ext cx="676656" cy="676656"/>
          </a:xfrm>
          <a:prstGeom prst="ellipse">
            <a:avLst/>
          </a:prstGeom>
          <a:solidFill>
            <a:schemeClr val="accent3"/>
          </a:solidFill>
          <a:ln/>
        </p:spPr>
      </p:sp>
      <p:pic>
        <p:nvPicPr>
          <p:cNvPr id="13" name="Sage 2 icon" descr="preencoded.png">    </p:cNvPr>
          <p:cNvPicPr>
            <a:picLocks noChangeAspect="1"/>
          </p:cNvPicPr>
          <p:nvPr/>
        </p:nvPicPr>
        <p:blipFill>
          <a:blip r:embed="rId2"/>
          <a:stretch>
            <a:fillRect/>
          </a:stretch>
        </p:blipFill>
        <p:spPr>
          <a:xfrm>
            <a:off x="1474744" y="3605296"/>
            <a:ext cx="378927" cy="378927"/>
          </a:xfrm>
          <a:prstGeom prst="rect">
            <a:avLst/>
          </a:prstGeom>
        </p:spPr>
      </p:pic>
      <p:sp>
        <p:nvSpPr>
          <p:cNvPr id="14" name="bubble 4"/>
          <p:cNvSpPr/>
          <p:nvPr/>
        </p:nvSpPr>
        <p:spPr>
          <a:xfrm>
            <a:off x="2194560" y="4334256"/>
            <a:ext cx="5120640" cy="713232"/>
          </a:xfrm>
          <a:prstGeom prst="roundRect">
            <a:avLst>
              <a:gd name="adj" fmla="val 25641"/>
            </a:avLst>
          </a:prstGeom>
          <a:solidFill>
            <a:schemeClr val="accent4"/>
          </a:solidFill>
          <a:ln/>
        </p:spPr>
      </p:sp>
      <p:sp>
        <p:nvSpPr>
          <p:cNvPr id="15" name="Text 11"/>
          <p:cNvSpPr txBox="1"/>
          <p:nvPr/>
        </p:nvSpPr>
        <p:spPr>
          <a:xfrm>
            <a:off x="2423160" y="4334256"/>
            <a:ext cx="4663440" cy="713232"/>
          </a:xfrm>
          <a:prstGeom prst="rect">
            <a:avLst/>
          </a:prstGeom>
          <a:noFill/>
          <a:ln/>
        </p:spPr>
        <p:txBody>
          <a:bodyPr wrap="square" lIns="0" tIns="0" rIns="0" bIns="0" rtlCol="0" anchor="ctr"/>
          <a:lstStyle/>
          <a:p>
            <a:pPr indent="0" marL="0">
              <a:buNone/>
            </a:pPr>
            <a:r>
              <a:rPr lang="en-US" sz="1800" b="1" dirty="0">
                <a:solidFill>
                  <a:schemeClr val="bg1"/>
                </a:solidFill>
              </a:rPr>
              <a:t>Penny:  </a:t>
            </a:r>
            <a:pPr indent="0" marL="0">
              <a:buNone/>
            </a:pPr>
            <a:r>
              <a:rPr lang="en-US" sz="1800" dirty="0">
                <a:solidFill>
                  <a:schemeClr val="bg1"/>
                </a:solidFill>
              </a:rPr>
              <a:t>Fifty-six! I imagine seven rows of eight penguins!</a:t>
            </a:r>
            <a:endParaRPr lang="en-US" sz="1800" dirty="0"/>
          </a:p>
        </p:txBody>
      </p:sp>
      <p:sp>
        <p:nvSpPr>
          <p:cNvPr id="16" name="Penny 3 circle"/>
          <p:cNvSpPr/>
          <p:nvPr/>
        </p:nvSpPr>
        <p:spPr>
          <a:xfrm>
            <a:off x="1325880" y="4352544"/>
            <a:ext cx="676656" cy="676656"/>
          </a:xfrm>
          <a:prstGeom prst="ellipse">
            <a:avLst/>
          </a:prstGeom>
          <a:solidFill>
            <a:schemeClr val="accent4"/>
          </a:solidFill>
          <a:ln/>
        </p:spPr>
      </p:sp>
      <p:pic>
        <p:nvPicPr>
          <p:cNvPr id="17" name="Penny 3 icon" descr="preencoded.png">    </p:cNvPr>
          <p:cNvPicPr>
            <a:picLocks noChangeAspect="1"/>
          </p:cNvPicPr>
          <p:nvPr/>
        </p:nvPicPr>
        <p:blipFill>
          <a:blip r:embed="rId3"/>
          <a:stretch>
            <a:fillRect/>
          </a:stretch>
        </p:blipFill>
        <p:spPr>
          <a:xfrm>
            <a:off x="1474744" y="4501408"/>
            <a:ext cx="378927" cy="378927"/>
          </a:xfrm>
          <a:prstGeom prst="rect">
            <a:avLst/>
          </a:prstGeom>
        </p:spPr>
      </p:pic>
      <p:sp>
        <p:nvSpPr>
          <p:cNvPr id="18" name="bubble 5"/>
          <p:cNvSpPr/>
          <p:nvPr/>
        </p:nvSpPr>
        <p:spPr>
          <a:xfrm>
            <a:off x="2194560" y="5230368"/>
            <a:ext cx="5120640" cy="713232"/>
          </a:xfrm>
          <a:prstGeom prst="roundRect">
            <a:avLst>
              <a:gd name="adj" fmla="val 25641"/>
            </a:avLst>
          </a:prstGeom>
          <a:solidFill>
            <a:schemeClr val="accent2"/>
          </a:solidFill>
          <a:ln/>
        </p:spPr>
      </p:sp>
      <p:sp>
        <p:nvSpPr>
          <p:cNvPr id="19" name="Text 14"/>
          <p:cNvSpPr txBox="1"/>
          <p:nvPr/>
        </p:nvSpPr>
        <p:spPr>
          <a:xfrm>
            <a:off x="2423160" y="5230368"/>
            <a:ext cx="4663440" cy="713232"/>
          </a:xfrm>
          <a:prstGeom prst="rect">
            <a:avLst/>
          </a:prstGeom>
          <a:noFill/>
          <a:ln/>
        </p:spPr>
        <p:txBody>
          <a:bodyPr wrap="square" lIns="0" tIns="0" rIns="0" bIns="0" rtlCol="0" anchor="ctr"/>
          <a:lstStyle/>
          <a:p>
            <a:pPr indent="0" marL="0">
              <a:buNone/>
            </a:pPr>
            <a:r>
              <a:rPr lang="en-US" sz="1800" b="1" dirty="0">
                <a:solidFill>
                  <a:schemeClr val="bg1"/>
                </a:solidFill>
              </a:rPr>
              <a:t>Dyno:  </a:t>
            </a:r>
            <a:pPr indent="0" marL="0">
              <a:buNone/>
            </a:pPr>
            <a:r>
              <a:rPr lang="en-US" sz="1800" dirty="0">
                <a:solidFill>
                  <a:schemeClr val="bg1"/>
                </a:solidFill>
              </a:rPr>
              <a:t>Rawr! You're a great teacher!</a:t>
            </a:r>
            <a:endParaRPr lang="en-US" sz="1800" dirty="0"/>
          </a:p>
        </p:txBody>
      </p:sp>
      <p:sp>
        <p:nvSpPr>
          <p:cNvPr id="20" name="Dyno 4 circle"/>
          <p:cNvSpPr/>
          <p:nvPr/>
        </p:nvSpPr>
        <p:spPr>
          <a:xfrm>
            <a:off x="1325880" y="5248656"/>
            <a:ext cx="676656" cy="676656"/>
          </a:xfrm>
          <a:prstGeom prst="ellipse">
            <a:avLst/>
          </a:prstGeom>
          <a:solidFill>
            <a:schemeClr val="accent2"/>
          </a:solidFill>
          <a:ln/>
        </p:spPr>
      </p:sp>
      <p:pic>
        <p:nvPicPr>
          <p:cNvPr id="21" name="Dyno 4 icon" descr="preencoded.png">    </p:cNvPr>
          <p:cNvPicPr>
            <a:picLocks noChangeAspect="1"/>
          </p:cNvPicPr>
          <p:nvPr/>
        </p:nvPicPr>
        <p:blipFill>
          <a:blip r:embed="rId4"/>
          <a:stretch>
            <a:fillRect/>
          </a:stretch>
        </p:blipFill>
        <p:spPr>
          <a:xfrm>
            <a:off x="1474744" y="5397520"/>
            <a:ext cx="378927" cy="378927"/>
          </a:xfrm>
          <a:prstGeom prst="rect">
            <a:avLst/>
          </a:prstGeom>
        </p:spPr>
      </p:pic>
      <p:sp>
        <p:nvSpPr>
          <p:cNvPr id="22" name="spotlight card"/>
          <p:cNvSpPr/>
          <p:nvPr/>
        </p:nvSpPr>
        <p:spPr>
          <a:xfrm>
            <a:off x="7955280" y="1645920"/>
            <a:ext cx="3657600" cy="4297680"/>
          </a:xfrm>
          <a:prstGeom prst="roundRect">
            <a:avLst>
              <a:gd name="adj" fmla="val 5000"/>
            </a:avLst>
          </a:prstGeom>
          <a:solidFill>
            <a:srgbClr val="2A2F66"/>
          </a:solidFill>
          <a:ln w="19050">
            <a:solidFill>
              <a:schemeClr val="accent1"/>
            </a:solidFill>
            <a:prstDash val="solid"/>
          </a:ln>
        </p:spPr>
      </p:sp>
      <p:pic>
        <p:nvPicPr>
          <p:cNvPr id="23" name="spotlight star" descr="preencoded.png">    </p:cNvPr>
          <p:cNvPicPr>
            <a:picLocks noChangeAspect="1"/>
          </p:cNvPicPr>
          <p:nvPr/>
        </p:nvPicPr>
        <p:blipFill>
          <a:blip r:embed="rId5"/>
          <a:stretch>
            <a:fillRect/>
          </a:stretch>
        </p:blipFill>
        <p:spPr>
          <a:xfrm>
            <a:off x="9464040" y="1920240"/>
            <a:ext cx="640080" cy="640080"/>
          </a:xfrm>
          <a:prstGeom prst="rect">
            <a:avLst/>
          </a:prstGeom>
        </p:spPr>
      </p:pic>
      <p:sp>
        <p:nvSpPr>
          <p:cNvPr id="24" name="Text 17"/>
          <p:cNvSpPr txBox="1"/>
          <p:nvPr/>
        </p:nvSpPr>
        <p:spPr>
          <a:xfrm>
            <a:off x="8229600" y="2697480"/>
            <a:ext cx="3108960" cy="1463040"/>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Being right is nice.</a:t>
            </a:r>
            <a:endParaRPr lang="en-US" sz="2000" dirty="0"/>
          </a:p>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Being the one who explains is magic.</a:t>
            </a:r>
            <a:endParaRPr lang="en-US" sz="2000" dirty="0"/>
          </a:p>
        </p:txBody>
      </p:sp>
      <p:sp>
        <p:nvSpPr>
          <p:cNvPr id="25" name="Text 18"/>
          <p:cNvSpPr txBox="1"/>
          <p:nvPr/>
        </p:nvSpPr>
        <p:spPr>
          <a:xfrm>
            <a:off x="8229600" y="4251960"/>
            <a:ext cx="3108960" cy="1463040"/>
          </a:xfrm>
          <a:prstGeom prst="rect">
            <a:avLst/>
          </a:prstGeom>
          <a:noFill/>
          <a:ln/>
        </p:spPr>
        <p:txBody>
          <a:bodyPr wrap="square" lIns="0" tIns="0" rIns="0" bIns="0" rtlCol="0" anchor="t"/>
          <a:lstStyle/>
          <a:p>
            <a:pPr algn="ctr" indent="0" marL="0">
              <a:buNone/>
            </a:pPr>
            <a:r>
              <a:rPr lang="en-US" sz="1400" dirty="0">
                <a:solidFill>
                  <a:srgbClr val="D9DAF0"/>
                </a:solidFill>
              </a:rPr>
              <a:t>Dyno's curiosity hands the child the chalk. Gemma writes every line, and the facts always stay right.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EYES THAT KNOW YOU</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Every toy knows who it's looking at</a:t>
            </a:r>
            <a:endParaRPr lang="en-US" sz="3600" dirty="0"/>
          </a:p>
        </p:txBody>
      </p:sp>
      <p:sp>
        <p:nvSpPr>
          <p:cNvPr id="4" name="camera panel"/>
          <p:cNvSpPr/>
          <p:nvPr/>
        </p:nvSpPr>
        <p:spPr>
          <a:xfrm>
            <a:off x="548640" y="1691640"/>
            <a:ext cx="5212080" cy="4434840"/>
          </a:xfrm>
          <a:prstGeom prst="roundRect">
            <a:avLst>
              <a:gd name="adj" fmla="val 4124"/>
            </a:avLst>
          </a:prstGeom>
          <a:solidFill>
            <a:schemeClr val="bg2"/>
          </a:solidFill>
          <a:ln/>
        </p:spPr>
      </p:sp>
      <p:pic>
        <p:nvPicPr>
          <p:cNvPr id="5" name="dyno camera frame" descr="Real 320 by 240 frame from Dyno's camera showing Penny's woolly hat up close">    </p:cNvPr>
          <p:cNvPicPr>
            <a:picLocks noChangeAspect="1"/>
          </p:cNvPicPr>
          <p:nvPr/>
        </p:nvPicPr>
        <p:blipFill>
          <a:blip r:embed="rId1"/>
          <a:stretch>
            <a:fillRect/>
          </a:stretch>
        </p:blipFill>
        <p:spPr>
          <a:xfrm>
            <a:off x="777240" y="1920240"/>
            <a:ext cx="4754880" cy="3566160"/>
          </a:xfrm>
          <a:prstGeom prst="rect">
            <a:avLst/>
          </a:prstGeom>
        </p:spPr>
      </p:pic>
      <p:sp>
        <p:nvSpPr>
          <p:cNvPr id="6" name="Text 3"/>
          <p:cNvSpPr txBox="1"/>
          <p:nvPr/>
        </p:nvSpPr>
        <p:spPr>
          <a:xfrm>
            <a:off x="777240" y="5532120"/>
            <a:ext cx="4754880" cy="457200"/>
          </a:xfrm>
          <a:prstGeom prst="rect">
            <a:avLst/>
          </a:prstGeom>
          <a:noFill/>
          <a:ln/>
        </p:spPr>
        <p:txBody>
          <a:bodyPr wrap="square" lIns="0" tIns="0" rIns="0" bIns="0" rtlCol="0" anchor="ctr"/>
          <a:lstStyle/>
          <a:p>
            <a:pPr indent="0" marL="0">
              <a:buNone/>
            </a:pPr>
            <a:r>
              <a:rPr lang="en-US" sz="1200" i="1" dirty="0">
                <a:solidFill>
                  <a:schemeClr val="tx2"/>
                </a:solidFill>
              </a:rPr>
              <a:t>A real frame from Dyno's camera: Penny's woolly hat, up close (320 × 240).</a:t>
            </a:r>
            <a:endParaRPr lang="en-US" sz="1200" dirty="0"/>
          </a:p>
        </p:txBody>
      </p:sp>
      <p:sp>
        <p:nvSpPr>
          <p:cNvPr id="7" name="The child circle"/>
          <p:cNvSpPr/>
          <p:nvPr/>
        </p:nvSpPr>
        <p:spPr>
          <a:xfrm>
            <a:off x="6172200" y="1737360"/>
            <a:ext cx="713232" cy="713232"/>
          </a:xfrm>
          <a:prstGeom prst="ellipse">
            <a:avLst/>
          </a:prstGeom>
          <a:solidFill>
            <a:schemeClr val="tx1"/>
          </a:solidFill>
          <a:ln/>
        </p:spPr>
      </p:sp>
      <p:pic>
        <p:nvPicPr>
          <p:cNvPr id="8" name="The child icon" descr="preencoded.png">    </p:cNvPr>
          <p:cNvPicPr>
            <a:picLocks noChangeAspect="1"/>
          </p:cNvPicPr>
          <p:nvPr/>
        </p:nvPicPr>
        <p:blipFill>
          <a:blip r:embed="rId2"/>
          <a:stretch>
            <a:fillRect/>
          </a:stretch>
        </p:blipFill>
        <p:spPr>
          <a:xfrm>
            <a:off x="6329111" y="1894271"/>
            <a:ext cx="399410" cy="399410"/>
          </a:xfrm>
          <a:prstGeom prst="rect">
            <a:avLst/>
          </a:prstGeom>
        </p:spPr>
      </p:pic>
      <p:sp>
        <p:nvSpPr>
          <p:cNvPr id="9" name="Text 5"/>
          <p:cNvSpPr txBox="1"/>
          <p:nvPr/>
        </p:nvSpPr>
        <p:spPr>
          <a:xfrm>
            <a:off x="7086600" y="1719072"/>
            <a:ext cx="4526280" cy="365760"/>
          </a:xfrm>
          <a:prstGeom prst="rect">
            <a:avLst/>
          </a:prstGeom>
          <a:noFill/>
          <a:ln/>
        </p:spPr>
        <p:txBody>
          <a:bodyPr wrap="square" lIns="0" tIns="0" rIns="0" bIns="0" rtlCol="0" anchor="ctr"/>
          <a:lstStyle/>
          <a:p>
            <a:pPr indent="0" marL="0">
              <a:buNone/>
            </a:pPr>
            <a:r>
              <a:rPr lang="en-US" sz="1800" b="1" dirty="0">
                <a:solidFill>
                  <a:schemeClr val="tx1"/>
                </a:solidFill>
              </a:rPr>
              <a:t>The child</a:t>
            </a:r>
            <a:endParaRPr lang="en-US" sz="1800" dirty="0"/>
          </a:p>
        </p:txBody>
      </p:sp>
      <p:sp>
        <p:nvSpPr>
          <p:cNvPr id="10" name="Text 6"/>
          <p:cNvSpPr txBox="1"/>
          <p:nvPr/>
        </p:nvSpPr>
        <p:spPr>
          <a:xfrm>
            <a:off x="7086600" y="2084832"/>
            <a:ext cx="4526280" cy="640080"/>
          </a:xfrm>
          <a:prstGeom prst="rect">
            <a:avLst/>
          </a:prstGeom>
          <a:noFill/>
          <a:ln/>
        </p:spPr>
        <p:txBody>
          <a:bodyPr wrap="square" lIns="0" tIns="0" rIns="0" bIns="0" rtlCol="0" anchor="t"/>
          <a:lstStyle/>
          <a:p>
            <a:pPr indent="0" marL="0">
              <a:buNone/>
            </a:pPr>
            <a:r>
              <a:rPr lang="en-US" sz="1500" dirty="0">
                <a:solidFill>
                  <a:schemeClr val="tx2"/>
                </a:solidFill>
              </a:rPr>
              <a:t>Any face it doesn't know becomes “the child” it's playing with.</a:t>
            </a:r>
            <a:endParaRPr lang="en-US" sz="1500" dirty="0"/>
          </a:p>
        </p:txBody>
      </p:sp>
      <p:sp>
        <p:nvSpPr>
          <p:cNvPr id="11" name="Family circle"/>
          <p:cNvSpPr/>
          <p:nvPr/>
        </p:nvSpPr>
        <p:spPr>
          <a:xfrm>
            <a:off x="6172200" y="2816352"/>
            <a:ext cx="713232" cy="713232"/>
          </a:xfrm>
          <a:prstGeom prst="ellipse">
            <a:avLst/>
          </a:prstGeom>
          <a:solidFill>
            <a:schemeClr val="accent3"/>
          </a:solidFill>
          <a:ln/>
        </p:spPr>
      </p:sp>
      <p:pic>
        <p:nvPicPr>
          <p:cNvPr id="12" name="Family icon" descr="preencoded.png">    </p:cNvPr>
          <p:cNvPicPr>
            <a:picLocks noChangeAspect="1"/>
          </p:cNvPicPr>
          <p:nvPr/>
        </p:nvPicPr>
        <p:blipFill>
          <a:blip r:embed="rId3"/>
          <a:stretch>
            <a:fillRect/>
          </a:stretch>
        </p:blipFill>
        <p:spPr>
          <a:xfrm>
            <a:off x="6329111" y="2973263"/>
            <a:ext cx="399410" cy="399410"/>
          </a:xfrm>
          <a:prstGeom prst="rect">
            <a:avLst/>
          </a:prstGeom>
        </p:spPr>
      </p:pic>
      <p:sp>
        <p:nvSpPr>
          <p:cNvPr id="13" name="Text 8"/>
          <p:cNvSpPr txBox="1"/>
          <p:nvPr/>
        </p:nvSpPr>
        <p:spPr>
          <a:xfrm>
            <a:off x="7086600" y="2798064"/>
            <a:ext cx="4526280" cy="365760"/>
          </a:xfrm>
          <a:prstGeom prst="rect">
            <a:avLst/>
          </a:prstGeom>
          <a:noFill/>
          <a:ln/>
        </p:spPr>
        <p:txBody>
          <a:bodyPr wrap="square" lIns="0" tIns="0" rIns="0" bIns="0" rtlCol="0" anchor="ctr"/>
          <a:lstStyle/>
          <a:p>
            <a:pPr indent="0" marL="0">
              <a:buNone/>
            </a:pPr>
            <a:r>
              <a:rPr lang="en-US" sz="1800" b="1" dirty="0">
                <a:solidFill>
                  <a:schemeClr val="tx1"/>
                </a:solidFill>
              </a:rPr>
              <a:t>Family</a:t>
            </a:r>
            <a:endParaRPr lang="en-US" sz="1800" dirty="0"/>
          </a:p>
        </p:txBody>
      </p:sp>
      <p:sp>
        <p:nvSpPr>
          <p:cNvPr id="14" name="Text 9"/>
          <p:cNvSpPr txBox="1"/>
          <p:nvPr/>
        </p:nvSpPr>
        <p:spPr>
          <a:xfrm>
            <a:off x="7086600" y="3163824"/>
            <a:ext cx="4526280" cy="640080"/>
          </a:xfrm>
          <a:prstGeom prst="rect">
            <a:avLst/>
          </a:prstGeom>
          <a:noFill/>
          <a:ln/>
        </p:spPr>
        <p:txBody>
          <a:bodyPr wrap="square" lIns="0" tIns="0" rIns="0" bIns="0" rtlCol="0" anchor="t"/>
          <a:lstStyle/>
          <a:p>
            <a:pPr indent="0" marL="0">
              <a:buNone/>
            </a:pPr>
            <a:r>
              <a:rPr lang="en-US" sz="1500" dirty="0">
                <a:solidFill>
                  <a:schemeClr val="tx2"/>
                </a:solidFill>
              </a:rPr>
              <a:t>Faces enrolled from a few photos, greeted by name.</a:t>
            </a:r>
            <a:endParaRPr lang="en-US" sz="1500" dirty="0"/>
          </a:p>
        </p:txBody>
      </p:sp>
      <p:sp>
        <p:nvSpPr>
          <p:cNvPr id="15" name="Each other circle"/>
          <p:cNvSpPr/>
          <p:nvPr/>
        </p:nvSpPr>
        <p:spPr>
          <a:xfrm>
            <a:off x="6172200" y="3895344"/>
            <a:ext cx="713232" cy="713232"/>
          </a:xfrm>
          <a:prstGeom prst="ellipse">
            <a:avLst/>
          </a:prstGeom>
          <a:solidFill>
            <a:schemeClr val="accent2"/>
          </a:solidFill>
          <a:ln/>
        </p:spPr>
      </p:sp>
      <p:pic>
        <p:nvPicPr>
          <p:cNvPr id="16" name="Each other icon" descr="preencoded.png">    </p:cNvPr>
          <p:cNvPicPr>
            <a:picLocks noChangeAspect="1"/>
          </p:cNvPicPr>
          <p:nvPr/>
        </p:nvPicPr>
        <p:blipFill>
          <a:blip r:embed="rId4"/>
          <a:stretch>
            <a:fillRect/>
          </a:stretch>
        </p:blipFill>
        <p:spPr>
          <a:xfrm>
            <a:off x="6329111" y="4052255"/>
            <a:ext cx="399410" cy="399410"/>
          </a:xfrm>
          <a:prstGeom prst="rect">
            <a:avLst/>
          </a:prstGeom>
        </p:spPr>
      </p:pic>
      <p:sp>
        <p:nvSpPr>
          <p:cNvPr id="17" name="Text 11"/>
          <p:cNvSpPr txBox="1"/>
          <p:nvPr/>
        </p:nvSpPr>
        <p:spPr>
          <a:xfrm>
            <a:off x="7086600" y="3877056"/>
            <a:ext cx="4526280" cy="365760"/>
          </a:xfrm>
          <a:prstGeom prst="rect">
            <a:avLst/>
          </a:prstGeom>
          <a:noFill/>
          <a:ln/>
        </p:spPr>
        <p:txBody>
          <a:bodyPr wrap="square" lIns="0" tIns="0" rIns="0" bIns="0" rtlCol="0" anchor="ctr"/>
          <a:lstStyle/>
          <a:p>
            <a:pPr indent="0" marL="0">
              <a:buNone/>
            </a:pPr>
            <a:r>
              <a:rPr lang="en-US" sz="1800" b="1" dirty="0">
                <a:solidFill>
                  <a:schemeClr val="tx1"/>
                </a:solidFill>
              </a:rPr>
              <a:t>Each other</a:t>
            </a:r>
            <a:endParaRPr lang="en-US" sz="1800" dirty="0"/>
          </a:p>
        </p:txBody>
      </p:sp>
      <p:sp>
        <p:nvSpPr>
          <p:cNvPr id="18" name="Text 12"/>
          <p:cNvSpPr txBox="1"/>
          <p:nvPr/>
        </p:nvSpPr>
        <p:spPr>
          <a:xfrm>
            <a:off x="7086600" y="4242816"/>
            <a:ext cx="4526280" cy="640080"/>
          </a:xfrm>
          <a:prstGeom prst="rect">
            <a:avLst/>
          </a:prstGeom>
          <a:noFill/>
          <a:ln/>
        </p:spPr>
        <p:txBody>
          <a:bodyPr wrap="square" lIns="0" tIns="0" rIns="0" bIns="0" rtlCol="0" anchor="t"/>
          <a:lstStyle/>
          <a:p>
            <a:pPr indent="0" marL="0">
              <a:buNone/>
            </a:pPr>
            <a:r>
              <a:rPr lang="en-US" sz="1500" dirty="0">
                <a:solidFill>
                  <a:schemeClr val="tx2"/>
                </a:solidFill>
              </a:rPr>
              <a:t>A tag on each toy's chest, so Dyno can tell Penny from Sage.</a:t>
            </a:r>
            <a:endParaRPr lang="en-US" sz="1500" dirty="0"/>
          </a:p>
        </p:txBody>
      </p:sp>
      <p:sp>
        <p:nvSpPr>
          <p:cNvPr id="19" name="Pets and books circle"/>
          <p:cNvSpPr/>
          <p:nvPr/>
        </p:nvSpPr>
        <p:spPr>
          <a:xfrm>
            <a:off x="6172200" y="4974336"/>
            <a:ext cx="713232" cy="713232"/>
          </a:xfrm>
          <a:prstGeom prst="ellipse">
            <a:avLst/>
          </a:prstGeom>
          <a:solidFill>
            <a:schemeClr val="accent4"/>
          </a:solidFill>
          <a:ln/>
        </p:spPr>
      </p:sp>
      <p:pic>
        <p:nvPicPr>
          <p:cNvPr id="20" name="Pets and books icon" descr="preencoded.png">    </p:cNvPr>
          <p:cNvPicPr>
            <a:picLocks noChangeAspect="1"/>
          </p:cNvPicPr>
          <p:nvPr/>
        </p:nvPicPr>
        <p:blipFill>
          <a:blip r:embed="rId5"/>
          <a:stretch>
            <a:fillRect/>
          </a:stretch>
        </p:blipFill>
        <p:spPr>
          <a:xfrm>
            <a:off x="6329111" y="5131247"/>
            <a:ext cx="399410" cy="399410"/>
          </a:xfrm>
          <a:prstGeom prst="rect">
            <a:avLst/>
          </a:prstGeom>
        </p:spPr>
      </p:pic>
      <p:sp>
        <p:nvSpPr>
          <p:cNvPr id="21" name="Text 14"/>
          <p:cNvSpPr txBox="1"/>
          <p:nvPr/>
        </p:nvSpPr>
        <p:spPr>
          <a:xfrm>
            <a:off x="7086600" y="4956048"/>
            <a:ext cx="4526280" cy="365760"/>
          </a:xfrm>
          <a:prstGeom prst="rect">
            <a:avLst/>
          </a:prstGeom>
          <a:noFill/>
          <a:ln/>
        </p:spPr>
        <p:txBody>
          <a:bodyPr wrap="square" lIns="0" tIns="0" rIns="0" bIns="0" rtlCol="0" anchor="ctr"/>
          <a:lstStyle/>
          <a:p>
            <a:pPr indent="0" marL="0">
              <a:buNone/>
            </a:pPr>
            <a:r>
              <a:rPr lang="en-US" sz="1800" b="1" dirty="0">
                <a:solidFill>
                  <a:schemeClr val="tx1"/>
                </a:solidFill>
              </a:rPr>
              <a:t>Pets and books</a:t>
            </a:r>
            <a:endParaRPr lang="en-US" sz="1800" dirty="0"/>
          </a:p>
        </p:txBody>
      </p:sp>
      <p:sp>
        <p:nvSpPr>
          <p:cNvPr id="22" name="Text 15"/>
          <p:cNvSpPr txBox="1"/>
          <p:nvPr/>
        </p:nvSpPr>
        <p:spPr>
          <a:xfrm>
            <a:off x="7086600" y="5321808"/>
            <a:ext cx="4526280" cy="640080"/>
          </a:xfrm>
          <a:prstGeom prst="rect">
            <a:avLst/>
          </a:prstGeom>
          <a:noFill/>
          <a:ln/>
        </p:spPr>
        <p:txBody>
          <a:bodyPr wrap="square" lIns="0" tIns="0" rIns="0" bIns="0" rtlCol="0" anchor="t"/>
          <a:lstStyle/>
          <a:p>
            <a:pPr indent="0" marL="0">
              <a:buNone/>
            </a:pPr>
            <a:r>
              <a:rPr lang="en-US" sz="1500" dirty="0">
                <a:solidFill>
                  <a:schemeClr val="tx2"/>
                </a:solidFill>
              </a:rPr>
              <a:t>A LiteRT object detector (Pi and Jetson build) spots dogs, cats and books.</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BEHIND THE CURTAIN</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Thin toys, one brain at the table</a:t>
            </a:r>
            <a:endParaRPr lang="en-US" sz="3600" dirty="0"/>
          </a:p>
        </p:txBody>
      </p:sp>
      <p:sp>
        <p:nvSpPr>
          <p:cNvPr id="4" name="toy box"/>
          <p:cNvSpPr/>
          <p:nvPr/>
        </p:nvSpPr>
        <p:spPr>
          <a:xfrm>
            <a:off x="548640" y="1828800"/>
            <a:ext cx="2286000" cy="2834640"/>
          </a:xfrm>
          <a:prstGeom prst="roundRect">
            <a:avLst>
              <a:gd name="adj" fmla="val 8000"/>
            </a:avLst>
          </a:prstGeom>
          <a:solidFill>
            <a:schemeClr val="tx1"/>
          </a:solidFill>
          <a:ln/>
          <a:effectLst>
            <a:outerShdw sx="100000" sy="100000" kx="0" ky="0" algn="bl" rotWithShape="0" blurRad="101600" dist="25400" dir="5400000">
              <a:srgbClr val="1B1F4B">
                <a:alpha val="14000"/>
              </a:srgbClr>
            </a:outerShdw>
          </a:effectLst>
        </p:spPr>
      </p:sp>
      <p:sp>
        <p:nvSpPr>
          <p:cNvPr id="5" name="Text 3"/>
          <p:cNvSpPr txBox="1"/>
          <p:nvPr/>
        </p:nvSpPr>
        <p:spPr>
          <a:xfrm>
            <a:off x="685800" y="1965960"/>
            <a:ext cx="2011680" cy="457200"/>
          </a:xfrm>
          <a:prstGeom prst="rect">
            <a:avLst/>
          </a:prstGeom>
          <a:noFill/>
          <a:ln/>
        </p:spPr>
        <p:txBody>
          <a:bodyPr wrap="square" lIns="0" tIns="0" rIns="0" bIns="0" rtlCol="0" anchor="ctr"/>
          <a:lstStyle/>
          <a:p>
            <a:pPr algn="ctr" indent="0" marL="0">
              <a:buNone/>
            </a:pPr>
            <a:r>
              <a:rPr lang="en-US" sz="2000" b="1" dirty="0">
                <a:solidFill>
                  <a:schemeClr val="bg1"/>
                </a:solidFill>
              </a:rPr>
              <a:t>Each toy</a:t>
            </a:r>
            <a:endParaRPr lang="en-US" sz="2000" dirty="0"/>
          </a:p>
        </p:txBody>
      </p:sp>
      <p:pic>
        <p:nvPicPr>
          <p:cNvPr id="6" name="camera icon" descr="preencoded.png">    </p:cNvPr>
          <p:cNvPicPr>
            <a:picLocks noChangeAspect="1"/>
          </p:cNvPicPr>
          <p:nvPr/>
        </p:nvPicPr>
        <p:blipFill>
          <a:blip r:embed="rId1"/>
          <a:stretch>
            <a:fillRect/>
          </a:stretch>
        </p:blipFill>
        <p:spPr>
          <a:xfrm>
            <a:off x="868680" y="2514600"/>
            <a:ext cx="384048" cy="384048"/>
          </a:xfrm>
          <a:prstGeom prst="rect">
            <a:avLst/>
          </a:prstGeom>
        </p:spPr>
      </p:pic>
      <p:sp>
        <p:nvSpPr>
          <p:cNvPr id="7" name="Text 4"/>
          <p:cNvSpPr txBox="1"/>
          <p:nvPr/>
        </p:nvSpPr>
        <p:spPr>
          <a:xfrm>
            <a:off x="1417320" y="2514600"/>
            <a:ext cx="1280160" cy="384048"/>
          </a:xfrm>
          <a:prstGeom prst="rect">
            <a:avLst/>
          </a:prstGeom>
          <a:noFill/>
          <a:ln/>
        </p:spPr>
        <p:txBody>
          <a:bodyPr wrap="square" lIns="0" tIns="0" rIns="0" bIns="0" rtlCol="0" anchor="ctr"/>
          <a:lstStyle/>
          <a:p>
            <a:pPr indent="0" marL="0">
              <a:buNone/>
            </a:pPr>
            <a:r>
              <a:rPr lang="en-US" sz="1600" dirty="0">
                <a:solidFill>
                  <a:schemeClr val="bg1"/>
                </a:solidFill>
              </a:rPr>
              <a:t>camera</a:t>
            </a:r>
            <a:endParaRPr lang="en-US" sz="1600" dirty="0"/>
          </a:p>
        </p:txBody>
      </p:sp>
      <p:pic>
        <p:nvPicPr>
          <p:cNvPr id="8" name="mic icon" descr="preencoded.png">    </p:cNvPr>
          <p:cNvPicPr>
            <a:picLocks noChangeAspect="1"/>
          </p:cNvPicPr>
          <p:nvPr/>
        </p:nvPicPr>
        <p:blipFill>
          <a:blip r:embed="rId2"/>
          <a:stretch>
            <a:fillRect/>
          </a:stretch>
        </p:blipFill>
        <p:spPr>
          <a:xfrm>
            <a:off x="868680" y="3136392"/>
            <a:ext cx="384048" cy="384048"/>
          </a:xfrm>
          <a:prstGeom prst="rect">
            <a:avLst/>
          </a:prstGeom>
        </p:spPr>
      </p:pic>
      <p:sp>
        <p:nvSpPr>
          <p:cNvPr id="9" name="Text 5"/>
          <p:cNvSpPr txBox="1"/>
          <p:nvPr/>
        </p:nvSpPr>
        <p:spPr>
          <a:xfrm>
            <a:off x="1417320" y="3136392"/>
            <a:ext cx="1280160" cy="384048"/>
          </a:xfrm>
          <a:prstGeom prst="rect">
            <a:avLst/>
          </a:prstGeom>
          <a:noFill/>
          <a:ln/>
        </p:spPr>
        <p:txBody>
          <a:bodyPr wrap="square" lIns="0" tIns="0" rIns="0" bIns="0" rtlCol="0" anchor="ctr"/>
          <a:lstStyle/>
          <a:p>
            <a:pPr indent="0" marL="0">
              <a:buNone/>
            </a:pPr>
            <a:r>
              <a:rPr lang="en-US" sz="1600" dirty="0">
                <a:solidFill>
                  <a:schemeClr val="bg1"/>
                </a:solidFill>
              </a:rPr>
              <a:t>mic</a:t>
            </a:r>
            <a:endParaRPr lang="en-US" sz="1600" dirty="0"/>
          </a:p>
        </p:txBody>
      </p:sp>
      <p:pic>
        <p:nvPicPr>
          <p:cNvPr id="10" name="speaker icon" descr="preencoded.png">    </p:cNvPr>
          <p:cNvPicPr>
            <a:picLocks noChangeAspect="1"/>
          </p:cNvPicPr>
          <p:nvPr/>
        </p:nvPicPr>
        <p:blipFill>
          <a:blip r:embed="rId3"/>
          <a:stretch>
            <a:fillRect/>
          </a:stretch>
        </p:blipFill>
        <p:spPr>
          <a:xfrm>
            <a:off x="868680" y="3758184"/>
            <a:ext cx="384048" cy="384048"/>
          </a:xfrm>
          <a:prstGeom prst="rect">
            <a:avLst/>
          </a:prstGeom>
        </p:spPr>
      </p:pic>
      <p:sp>
        <p:nvSpPr>
          <p:cNvPr id="11" name="Text 6"/>
          <p:cNvSpPr txBox="1"/>
          <p:nvPr/>
        </p:nvSpPr>
        <p:spPr>
          <a:xfrm>
            <a:off x="1417320" y="3758184"/>
            <a:ext cx="1280160" cy="384048"/>
          </a:xfrm>
          <a:prstGeom prst="rect">
            <a:avLst/>
          </a:prstGeom>
          <a:noFill/>
          <a:ln/>
        </p:spPr>
        <p:txBody>
          <a:bodyPr wrap="square" lIns="0" tIns="0" rIns="0" bIns="0" rtlCol="0" anchor="ctr"/>
          <a:lstStyle/>
          <a:p>
            <a:pPr indent="0" marL="0">
              <a:buNone/>
            </a:pPr>
            <a:r>
              <a:rPr lang="en-US" sz="1600" dirty="0">
                <a:solidFill>
                  <a:schemeClr val="bg1"/>
                </a:solidFill>
              </a:rPr>
              <a:t>speaker</a:t>
            </a:r>
            <a:endParaRPr lang="en-US" sz="1600" dirty="0"/>
          </a:p>
        </p:txBody>
      </p:sp>
      <p:sp>
        <p:nvSpPr>
          <p:cNvPr id="12" name="Text 7"/>
          <p:cNvSpPr txBox="1"/>
          <p:nvPr/>
        </p:nvSpPr>
        <p:spPr>
          <a:xfrm>
            <a:off x="685800" y="4297680"/>
            <a:ext cx="2011680" cy="274320"/>
          </a:xfrm>
          <a:prstGeom prst="rect">
            <a:avLst/>
          </a:prstGeom>
          <a:noFill/>
          <a:ln/>
        </p:spPr>
        <p:txBody>
          <a:bodyPr wrap="square" lIns="0" tIns="0" rIns="0" bIns="0" rtlCol="0" anchor="ctr"/>
          <a:lstStyle/>
          <a:p>
            <a:pPr algn="ctr" indent="0" marL="0">
              <a:buNone/>
            </a:pPr>
            <a:r>
              <a:rPr lang="en-US" sz="1200" dirty="0">
                <a:solidFill>
                  <a:schemeClr val="accent5"/>
                </a:solidFill>
              </a:rPr>
              <a:t>ESP32-S3 Atom</a:t>
            </a:r>
            <a:endParaRPr lang="en-US" sz="1200" dirty="0"/>
          </a:p>
        </p:txBody>
      </p:sp>
      <p:sp>
        <p:nvSpPr>
          <p:cNvPr id="13" name="to brain"/>
          <p:cNvSpPr/>
          <p:nvPr/>
        </p:nvSpPr>
        <p:spPr>
          <a:xfrm>
            <a:off x="2926080" y="2743200"/>
            <a:ext cx="868680" cy="0"/>
          </a:xfrm>
          <a:prstGeom prst="line">
            <a:avLst/>
          </a:prstGeom>
          <a:noFill/>
          <a:ln w="31750">
            <a:solidFill>
              <a:schemeClr val="tx1"/>
            </a:solidFill>
            <a:prstDash val="solid"/>
            <a:tailEnd type="triangle"/>
          </a:ln>
        </p:spPr>
      </p:sp>
      <p:pic>
        <p:nvPicPr>
          <p:cNvPr id="14" name="wifi icon" descr="preencoded.png">    </p:cNvPr>
          <p:cNvPicPr>
            <a:picLocks noChangeAspect="1"/>
          </p:cNvPicPr>
          <p:nvPr/>
        </p:nvPicPr>
        <p:blipFill>
          <a:blip r:embed="rId4"/>
          <a:stretch>
            <a:fillRect/>
          </a:stretch>
        </p:blipFill>
        <p:spPr>
          <a:xfrm>
            <a:off x="3172968" y="2971800"/>
            <a:ext cx="384048" cy="384048"/>
          </a:xfrm>
          <a:prstGeom prst="rect">
            <a:avLst/>
          </a:prstGeom>
        </p:spPr>
      </p:pic>
      <p:sp>
        <p:nvSpPr>
          <p:cNvPr id="15" name="Text 9"/>
          <p:cNvSpPr txBox="1"/>
          <p:nvPr/>
        </p:nvSpPr>
        <p:spPr>
          <a:xfrm>
            <a:off x="2880360" y="3383280"/>
            <a:ext cx="960120" cy="548640"/>
          </a:xfrm>
          <a:prstGeom prst="rect">
            <a:avLst/>
          </a:prstGeom>
          <a:noFill/>
          <a:ln/>
        </p:spPr>
        <p:txBody>
          <a:bodyPr wrap="square" lIns="0" tIns="0" rIns="0" bIns="0" rtlCol="0" anchor="ctr"/>
          <a:lstStyle/>
          <a:p>
            <a:pPr algn="ctr" indent="0" marL="0">
              <a:buNone/>
            </a:pPr>
            <a:r>
              <a:rPr lang="en-US" sz="1200" dirty="0">
                <a:solidFill>
                  <a:schemeClr val="tx2"/>
                </a:solidFill>
              </a:rPr>
              <a:t>Wi-Fi</a:t>
            </a:r>
            <a:endParaRPr lang="en-US" sz="1200" dirty="0"/>
          </a:p>
          <a:p>
            <a:pPr algn="ctr" indent="0" marL="0">
              <a:buNone/>
            </a:pPr>
            <a:r>
              <a:rPr lang="en-US" sz="1200" dirty="0">
                <a:solidFill>
                  <a:schemeClr val="tx2"/>
                </a:solidFill>
              </a:rPr>
              <a:t>7.6 ms</a:t>
            </a:r>
            <a:endParaRPr lang="en-US" sz="1200" dirty="0"/>
          </a:p>
        </p:txBody>
      </p:sp>
      <p:sp>
        <p:nvSpPr>
          <p:cNvPr id="16" name="brain region"/>
          <p:cNvSpPr/>
          <p:nvPr/>
        </p:nvSpPr>
        <p:spPr>
          <a:xfrm>
            <a:off x="3931920" y="1600200"/>
            <a:ext cx="7680960" cy="3291840"/>
          </a:xfrm>
          <a:prstGeom prst="roundRect">
            <a:avLst>
              <a:gd name="adj" fmla="val 5556"/>
            </a:avLst>
          </a:prstGeom>
          <a:solidFill>
            <a:schemeClr val="bg2"/>
          </a:solidFill>
          <a:ln/>
        </p:spPr>
      </p:sp>
      <p:sp>
        <p:nvSpPr>
          <p:cNvPr id="17" name="Text 11"/>
          <p:cNvSpPr txBox="1"/>
          <p:nvPr/>
        </p:nvSpPr>
        <p:spPr>
          <a:xfrm>
            <a:off x="4114800" y="1691640"/>
            <a:ext cx="7315200" cy="384048"/>
          </a:xfrm>
          <a:prstGeom prst="rect">
            <a:avLst/>
          </a:prstGeom>
          <a:noFill/>
          <a:ln/>
        </p:spPr>
        <p:txBody>
          <a:bodyPr wrap="square" lIns="0" tIns="0" rIns="0" bIns="0" rtlCol="0" anchor="ctr"/>
          <a:lstStyle/>
          <a:p>
            <a:pPr indent="0" marL="0">
              <a:buNone/>
            </a:pPr>
            <a:r>
              <a:rPr lang="en-US" sz="1600" b="1" dirty="0">
                <a:solidFill>
                  <a:schemeClr val="tx1"/>
                </a:solidFill>
              </a:rPr>
              <a:t>The brain, on the table</a:t>
            </a:r>
            <a:endParaRPr lang="en-US" sz="1600" dirty="0"/>
          </a:p>
        </p:txBody>
      </p:sp>
      <p:sp>
        <p:nvSpPr>
          <p:cNvPr id="18" name="Listen card"/>
          <p:cNvSpPr/>
          <p:nvPr/>
        </p:nvSpPr>
        <p:spPr>
          <a:xfrm>
            <a:off x="4114800" y="2194560"/>
            <a:ext cx="1737360" cy="2514600"/>
          </a:xfrm>
          <a:prstGeom prst="roundRect">
            <a:avLst>
              <a:gd name="adj" fmla="val 7895"/>
            </a:avLst>
          </a:prstGeom>
          <a:solidFill>
            <a:schemeClr val="bg1"/>
          </a:solidFill>
          <a:ln/>
          <a:effectLst>
            <a:outerShdw sx="100000" sy="100000" kx="0" ky="0" algn="bl" rotWithShape="0" blurRad="101600" dist="25400" dir="5400000">
              <a:srgbClr val="1B1F4B">
                <a:alpha val="14000"/>
              </a:srgbClr>
            </a:outerShdw>
          </a:effectLst>
        </p:spPr>
      </p:sp>
      <p:sp>
        <p:nvSpPr>
          <p:cNvPr id="19" name="Listen circle"/>
          <p:cNvSpPr/>
          <p:nvPr/>
        </p:nvSpPr>
        <p:spPr>
          <a:xfrm>
            <a:off x="4617720" y="2377440"/>
            <a:ext cx="731520" cy="731520"/>
          </a:xfrm>
          <a:prstGeom prst="ellipse">
            <a:avLst/>
          </a:prstGeom>
          <a:solidFill>
            <a:schemeClr val="accent4"/>
          </a:solidFill>
          <a:ln/>
        </p:spPr>
      </p:sp>
      <p:pic>
        <p:nvPicPr>
          <p:cNvPr id="20" name="Listen icon" descr="preencoded.png">    </p:cNvPr>
          <p:cNvPicPr>
            <a:picLocks noChangeAspect="1"/>
          </p:cNvPicPr>
          <p:nvPr/>
        </p:nvPicPr>
        <p:blipFill>
          <a:blip r:embed="rId5"/>
          <a:stretch>
            <a:fillRect/>
          </a:stretch>
        </p:blipFill>
        <p:spPr>
          <a:xfrm>
            <a:off x="4778654" y="2538374"/>
            <a:ext cx="409651" cy="409651"/>
          </a:xfrm>
          <a:prstGeom prst="rect">
            <a:avLst/>
          </a:prstGeom>
        </p:spPr>
      </p:pic>
      <p:sp>
        <p:nvSpPr>
          <p:cNvPr id="21" name="Text 14"/>
          <p:cNvSpPr txBox="1"/>
          <p:nvPr/>
        </p:nvSpPr>
        <p:spPr>
          <a:xfrm>
            <a:off x="4206240" y="3200400"/>
            <a:ext cx="1554480" cy="384048"/>
          </a:xfrm>
          <a:prstGeom prst="rect">
            <a:avLst/>
          </a:prstGeom>
          <a:noFill/>
          <a:ln/>
        </p:spPr>
        <p:txBody>
          <a:bodyPr wrap="square" lIns="0" tIns="0" rIns="0" bIns="0" rtlCol="0" anchor="ctr"/>
          <a:lstStyle/>
          <a:p>
            <a:pPr algn="ctr" indent="0" marL="0">
              <a:buNone/>
            </a:pPr>
            <a:r>
              <a:rPr lang="en-US" sz="1800" b="1" dirty="0">
                <a:solidFill>
                  <a:schemeClr val="tx1"/>
                </a:solidFill>
              </a:rPr>
              <a:t>Listen</a:t>
            </a:r>
            <a:endParaRPr lang="en-US" sz="1800" dirty="0"/>
          </a:p>
        </p:txBody>
      </p:sp>
      <p:sp>
        <p:nvSpPr>
          <p:cNvPr id="22" name="Text 15"/>
          <p:cNvSpPr txBox="1"/>
          <p:nvPr/>
        </p:nvSpPr>
        <p:spPr>
          <a:xfrm>
            <a:off x="4224528" y="3611880"/>
            <a:ext cx="1517904" cy="1005840"/>
          </a:xfrm>
          <a:prstGeom prst="rect">
            <a:avLst/>
          </a:prstGeom>
          <a:noFill/>
          <a:ln/>
        </p:spPr>
        <p:txBody>
          <a:bodyPr wrap="square" lIns="0" tIns="0" rIns="0" bIns="0" rtlCol="0" anchor="t"/>
          <a:lstStyle/>
          <a:p>
            <a:pPr algn="ctr" indent="0" marL="0">
              <a:buNone/>
            </a:pPr>
            <a:r>
              <a:rPr lang="en-US" sz="1300" dirty="0">
                <a:solidFill>
                  <a:schemeClr val="tx2"/>
                </a:solidFill>
              </a:rPr>
              <a:t>Hears a voice start and stop, no button.</a:t>
            </a:r>
            <a:endParaRPr lang="en-US" sz="1300" dirty="0"/>
          </a:p>
        </p:txBody>
      </p:sp>
      <p:sp>
        <p:nvSpPr>
          <p:cNvPr id="23" name="See card"/>
          <p:cNvSpPr/>
          <p:nvPr/>
        </p:nvSpPr>
        <p:spPr>
          <a:xfrm>
            <a:off x="5989320" y="2194560"/>
            <a:ext cx="1737360" cy="2514600"/>
          </a:xfrm>
          <a:prstGeom prst="roundRect">
            <a:avLst>
              <a:gd name="adj" fmla="val 7895"/>
            </a:avLst>
          </a:prstGeom>
          <a:solidFill>
            <a:schemeClr val="bg1"/>
          </a:solidFill>
          <a:ln/>
          <a:effectLst>
            <a:outerShdw sx="100000" sy="100000" kx="0" ky="0" algn="bl" rotWithShape="0" blurRad="101600" dist="25400" dir="5400000">
              <a:srgbClr val="1B1F4B">
                <a:alpha val="14000"/>
              </a:srgbClr>
            </a:outerShdw>
          </a:effectLst>
        </p:spPr>
      </p:sp>
      <p:sp>
        <p:nvSpPr>
          <p:cNvPr id="24" name="See circle"/>
          <p:cNvSpPr/>
          <p:nvPr/>
        </p:nvSpPr>
        <p:spPr>
          <a:xfrm>
            <a:off x="6492240" y="2377440"/>
            <a:ext cx="731520" cy="731520"/>
          </a:xfrm>
          <a:prstGeom prst="ellipse">
            <a:avLst/>
          </a:prstGeom>
          <a:solidFill>
            <a:schemeClr val="accent3"/>
          </a:solidFill>
          <a:ln/>
        </p:spPr>
      </p:sp>
      <p:pic>
        <p:nvPicPr>
          <p:cNvPr id="25" name="See icon" descr="preencoded.png">    </p:cNvPr>
          <p:cNvPicPr>
            <a:picLocks noChangeAspect="1"/>
          </p:cNvPicPr>
          <p:nvPr/>
        </p:nvPicPr>
        <p:blipFill>
          <a:blip r:embed="rId6"/>
          <a:stretch>
            <a:fillRect/>
          </a:stretch>
        </p:blipFill>
        <p:spPr>
          <a:xfrm>
            <a:off x="6653174" y="2538374"/>
            <a:ext cx="409651" cy="409651"/>
          </a:xfrm>
          <a:prstGeom prst="rect">
            <a:avLst/>
          </a:prstGeom>
        </p:spPr>
      </p:pic>
      <p:sp>
        <p:nvSpPr>
          <p:cNvPr id="26" name="Text 18"/>
          <p:cNvSpPr txBox="1"/>
          <p:nvPr/>
        </p:nvSpPr>
        <p:spPr>
          <a:xfrm>
            <a:off x="6080760" y="3200400"/>
            <a:ext cx="1554480" cy="384048"/>
          </a:xfrm>
          <a:prstGeom prst="rect">
            <a:avLst/>
          </a:prstGeom>
          <a:noFill/>
          <a:ln/>
        </p:spPr>
        <p:txBody>
          <a:bodyPr wrap="square" lIns="0" tIns="0" rIns="0" bIns="0" rtlCol="0" anchor="ctr"/>
          <a:lstStyle/>
          <a:p>
            <a:pPr algn="ctr" indent="0" marL="0">
              <a:buNone/>
            </a:pPr>
            <a:r>
              <a:rPr lang="en-US" sz="1800" b="1" dirty="0">
                <a:solidFill>
                  <a:schemeClr val="tx1"/>
                </a:solidFill>
              </a:rPr>
              <a:t>See</a:t>
            </a:r>
            <a:endParaRPr lang="en-US" sz="1800" dirty="0"/>
          </a:p>
        </p:txBody>
      </p:sp>
      <p:sp>
        <p:nvSpPr>
          <p:cNvPr id="27" name="Text 19"/>
          <p:cNvSpPr txBox="1"/>
          <p:nvPr/>
        </p:nvSpPr>
        <p:spPr>
          <a:xfrm>
            <a:off x="6099048" y="3611880"/>
            <a:ext cx="1517904" cy="1005840"/>
          </a:xfrm>
          <a:prstGeom prst="rect">
            <a:avLst/>
          </a:prstGeom>
          <a:noFill/>
          <a:ln/>
        </p:spPr>
        <p:txBody>
          <a:bodyPr wrap="square" lIns="0" tIns="0" rIns="0" bIns="0" rtlCol="0" anchor="t"/>
          <a:lstStyle/>
          <a:p>
            <a:pPr algn="ctr" indent="0" marL="0">
              <a:buNone/>
            </a:pPr>
            <a:r>
              <a:rPr lang="en-US" sz="1300" dirty="0">
                <a:solidFill>
                  <a:schemeClr val="tx2"/>
                </a:solidFill>
              </a:rPr>
              <a:t>Faces, tags, pets and books.</a:t>
            </a:r>
            <a:endParaRPr lang="en-US" sz="1300" dirty="0"/>
          </a:p>
        </p:txBody>
      </p:sp>
      <p:sp>
        <p:nvSpPr>
          <p:cNvPr id="28" name="Think card"/>
          <p:cNvSpPr/>
          <p:nvPr/>
        </p:nvSpPr>
        <p:spPr>
          <a:xfrm>
            <a:off x="7863840" y="2194560"/>
            <a:ext cx="1737360" cy="2514600"/>
          </a:xfrm>
          <a:prstGeom prst="roundRect">
            <a:avLst>
              <a:gd name="adj" fmla="val 7895"/>
            </a:avLst>
          </a:prstGeom>
          <a:solidFill>
            <a:schemeClr val="bg1"/>
          </a:solidFill>
          <a:ln/>
          <a:effectLst>
            <a:outerShdw sx="100000" sy="100000" kx="0" ky="0" algn="bl" rotWithShape="0" blurRad="101600" dist="25400" dir="5400000">
              <a:srgbClr val="1B1F4B">
                <a:alpha val="14000"/>
              </a:srgbClr>
            </a:outerShdw>
          </a:effectLst>
        </p:spPr>
      </p:sp>
      <p:sp>
        <p:nvSpPr>
          <p:cNvPr id="29" name="Think circle"/>
          <p:cNvSpPr/>
          <p:nvPr/>
        </p:nvSpPr>
        <p:spPr>
          <a:xfrm>
            <a:off x="8366760" y="2377440"/>
            <a:ext cx="731520" cy="731520"/>
          </a:xfrm>
          <a:prstGeom prst="ellipse">
            <a:avLst/>
          </a:prstGeom>
          <a:solidFill>
            <a:schemeClr val="tx1"/>
          </a:solidFill>
          <a:ln/>
        </p:spPr>
      </p:sp>
      <p:pic>
        <p:nvPicPr>
          <p:cNvPr id="30" name="Think icon" descr="preencoded.png">    </p:cNvPr>
          <p:cNvPicPr>
            <a:picLocks noChangeAspect="1"/>
          </p:cNvPicPr>
          <p:nvPr/>
        </p:nvPicPr>
        <p:blipFill>
          <a:blip r:embed="rId7"/>
          <a:stretch>
            <a:fillRect/>
          </a:stretch>
        </p:blipFill>
        <p:spPr>
          <a:xfrm>
            <a:off x="8527694" y="2538374"/>
            <a:ext cx="409651" cy="409651"/>
          </a:xfrm>
          <a:prstGeom prst="rect">
            <a:avLst/>
          </a:prstGeom>
        </p:spPr>
      </p:pic>
      <p:sp>
        <p:nvSpPr>
          <p:cNvPr id="31" name="Text 22"/>
          <p:cNvSpPr txBox="1"/>
          <p:nvPr/>
        </p:nvSpPr>
        <p:spPr>
          <a:xfrm>
            <a:off x="7955280" y="3200400"/>
            <a:ext cx="1554480" cy="384048"/>
          </a:xfrm>
          <a:prstGeom prst="rect">
            <a:avLst/>
          </a:prstGeom>
          <a:noFill/>
          <a:ln/>
        </p:spPr>
        <p:txBody>
          <a:bodyPr wrap="square" lIns="0" tIns="0" rIns="0" bIns="0" rtlCol="0" anchor="ctr"/>
          <a:lstStyle/>
          <a:p>
            <a:pPr algn="ctr" indent="0" marL="0">
              <a:buNone/>
            </a:pPr>
            <a:r>
              <a:rPr lang="en-US" sz="1800" b="1" dirty="0">
                <a:solidFill>
                  <a:schemeClr val="tx1"/>
                </a:solidFill>
              </a:rPr>
              <a:t>Think</a:t>
            </a:r>
            <a:endParaRPr lang="en-US" sz="1800" dirty="0"/>
          </a:p>
        </p:txBody>
      </p:sp>
      <p:sp>
        <p:nvSpPr>
          <p:cNvPr id="32" name="Text 23"/>
          <p:cNvSpPr txBox="1"/>
          <p:nvPr/>
        </p:nvSpPr>
        <p:spPr>
          <a:xfrm>
            <a:off x="7973568" y="3611880"/>
            <a:ext cx="1517904" cy="1005840"/>
          </a:xfrm>
          <a:prstGeom prst="rect">
            <a:avLst/>
          </a:prstGeom>
          <a:noFill/>
          <a:ln/>
        </p:spPr>
        <p:txBody>
          <a:bodyPr wrap="square" lIns="0" tIns="0" rIns="0" bIns="0" rtlCol="0" anchor="t"/>
          <a:lstStyle/>
          <a:p>
            <a:pPr algn="ctr" indent="0" marL="0">
              <a:buNone/>
            </a:pPr>
            <a:r>
              <a:rPr lang="en-US" sz="1300" dirty="0">
                <a:solidFill>
                  <a:schemeClr val="tx2"/>
                </a:solidFill>
              </a:rPr>
              <a:t>Gemma 4 E2B writes every line.</a:t>
            </a:r>
            <a:endParaRPr lang="en-US" sz="1300" dirty="0"/>
          </a:p>
        </p:txBody>
      </p:sp>
      <p:sp>
        <p:nvSpPr>
          <p:cNvPr id="33" name="Speak card"/>
          <p:cNvSpPr/>
          <p:nvPr/>
        </p:nvSpPr>
        <p:spPr>
          <a:xfrm>
            <a:off x="9738360" y="2194560"/>
            <a:ext cx="1737360" cy="2514600"/>
          </a:xfrm>
          <a:prstGeom prst="roundRect">
            <a:avLst>
              <a:gd name="adj" fmla="val 7895"/>
            </a:avLst>
          </a:prstGeom>
          <a:solidFill>
            <a:schemeClr val="bg1"/>
          </a:solidFill>
          <a:ln/>
          <a:effectLst>
            <a:outerShdw sx="100000" sy="100000" kx="0" ky="0" algn="bl" rotWithShape="0" blurRad="101600" dist="25400" dir="5400000">
              <a:srgbClr val="1B1F4B">
                <a:alpha val="14000"/>
              </a:srgbClr>
            </a:outerShdw>
          </a:effectLst>
        </p:spPr>
      </p:sp>
      <p:sp>
        <p:nvSpPr>
          <p:cNvPr id="34" name="Speak circle"/>
          <p:cNvSpPr/>
          <p:nvPr/>
        </p:nvSpPr>
        <p:spPr>
          <a:xfrm>
            <a:off x="10241280" y="2377440"/>
            <a:ext cx="731520" cy="731520"/>
          </a:xfrm>
          <a:prstGeom prst="ellipse">
            <a:avLst/>
          </a:prstGeom>
          <a:solidFill>
            <a:schemeClr val="accent2"/>
          </a:solidFill>
          <a:ln/>
        </p:spPr>
      </p:sp>
      <p:pic>
        <p:nvPicPr>
          <p:cNvPr id="35" name="Speak icon" descr="preencoded.png">    </p:cNvPr>
          <p:cNvPicPr>
            <a:picLocks noChangeAspect="1"/>
          </p:cNvPicPr>
          <p:nvPr/>
        </p:nvPicPr>
        <p:blipFill>
          <a:blip r:embed="rId8"/>
          <a:stretch>
            <a:fillRect/>
          </a:stretch>
        </p:blipFill>
        <p:spPr>
          <a:xfrm>
            <a:off x="10402214" y="2538374"/>
            <a:ext cx="409651" cy="409651"/>
          </a:xfrm>
          <a:prstGeom prst="rect">
            <a:avLst/>
          </a:prstGeom>
        </p:spPr>
      </p:pic>
      <p:sp>
        <p:nvSpPr>
          <p:cNvPr id="36" name="Text 26"/>
          <p:cNvSpPr txBox="1"/>
          <p:nvPr/>
        </p:nvSpPr>
        <p:spPr>
          <a:xfrm>
            <a:off x="9829800" y="3200400"/>
            <a:ext cx="1554480" cy="384048"/>
          </a:xfrm>
          <a:prstGeom prst="rect">
            <a:avLst/>
          </a:prstGeom>
          <a:noFill/>
          <a:ln/>
        </p:spPr>
        <p:txBody>
          <a:bodyPr wrap="square" lIns="0" tIns="0" rIns="0" bIns="0" rtlCol="0" anchor="ctr"/>
          <a:lstStyle/>
          <a:p>
            <a:pPr algn="ctr" indent="0" marL="0">
              <a:buNone/>
            </a:pPr>
            <a:r>
              <a:rPr lang="en-US" sz="1800" b="1" dirty="0">
                <a:solidFill>
                  <a:schemeClr val="tx1"/>
                </a:solidFill>
              </a:rPr>
              <a:t>Speak</a:t>
            </a:r>
            <a:endParaRPr lang="en-US" sz="1800" dirty="0"/>
          </a:p>
        </p:txBody>
      </p:sp>
      <p:sp>
        <p:nvSpPr>
          <p:cNvPr id="37" name="Text 27"/>
          <p:cNvSpPr txBox="1"/>
          <p:nvPr/>
        </p:nvSpPr>
        <p:spPr>
          <a:xfrm>
            <a:off x="9848088" y="3611880"/>
            <a:ext cx="1517904" cy="1005840"/>
          </a:xfrm>
          <a:prstGeom prst="rect">
            <a:avLst/>
          </a:prstGeom>
          <a:noFill/>
          <a:ln/>
        </p:spPr>
        <p:txBody>
          <a:bodyPr wrap="square" lIns="0" tIns="0" rIns="0" bIns="0" rtlCol="0" anchor="t"/>
          <a:lstStyle/>
          <a:p>
            <a:pPr algn="ctr" indent="0" marL="0">
              <a:buNone/>
            </a:pPr>
            <a:r>
              <a:rPr lang="en-US" sz="1300" dirty="0">
                <a:solidFill>
                  <a:schemeClr val="tx2"/>
                </a:solidFill>
              </a:rPr>
              <a:t>Piper gives each toy its own voice.</a:t>
            </a:r>
            <a:endParaRPr lang="en-US" sz="1300" dirty="0"/>
          </a:p>
        </p:txBody>
      </p:sp>
      <p:sp>
        <p:nvSpPr>
          <p:cNvPr id="38" name="speech back"/>
          <p:cNvSpPr/>
          <p:nvPr/>
        </p:nvSpPr>
        <p:spPr>
          <a:xfrm>
            <a:off x="1691640" y="5257800"/>
            <a:ext cx="7863840" cy="0"/>
          </a:xfrm>
          <a:prstGeom prst="line">
            <a:avLst/>
          </a:prstGeom>
          <a:noFill/>
          <a:ln w="31750">
            <a:solidFill>
              <a:schemeClr val="accent2"/>
            </a:solidFill>
            <a:prstDash val="solid"/>
          </a:ln>
        </p:spPr>
      </p:sp>
      <p:sp>
        <p:nvSpPr>
          <p:cNvPr id="39" name="speech back riser"/>
          <p:cNvSpPr/>
          <p:nvPr/>
        </p:nvSpPr>
        <p:spPr>
          <a:xfrm>
            <a:off x="9555480" y="4892040"/>
            <a:ext cx="0" cy="365760"/>
          </a:xfrm>
          <a:prstGeom prst="line">
            <a:avLst/>
          </a:prstGeom>
          <a:noFill/>
          <a:ln w="31750">
            <a:solidFill>
              <a:schemeClr val="accent2"/>
            </a:solidFill>
            <a:prstDash val="solid"/>
          </a:ln>
        </p:spPr>
      </p:sp>
      <p:sp>
        <p:nvSpPr>
          <p:cNvPr id="40" name="speech back into toy"/>
          <p:cNvSpPr/>
          <p:nvPr/>
        </p:nvSpPr>
        <p:spPr>
          <a:xfrm>
            <a:off x="1691640" y="4709160"/>
            <a:ext cx="0" cy="548640"/>
          </a:xfrm>
          <a:prstGeom prst="line">
            <a:avLst/>
          </a:prstGeom>
          <a:noFill/>
          <a:ln w="31750">
            <a:solidFill>
              <a:schemeClr val="accent2"/>
            </a:solidFill>
            <a:prstDash val="solid"/>
            <a:headEnd type="triangle"/>
          </a:ln>
        </p:spPr>
      </p:sp>
      <p:sp>
        <p:nvSpPr>
          <p:cNvPr id="41" name="Text 31"/>
          <p:cNvSpPr txBox="1"/>
          <p:nvPr/>
        </p:nvSpPr>
        <p:spPr>
          <a:xfrm>
            <a:off x="2743200" y="5303520"/>
            <a:ext cx="5943600" cy="365760"/>
          </a:xfrm>
          <a:prstGeom prst="rect">
            <a:avLst/>
          </a:prstGeom>
          <a:noFill/>
          <a:ln/>
        </p:spPr>
        <p:txBody>
          <a:bodyPr wrap="square" lIns="0" tIns="0" rIns="0" bIns="0" rtlCol="0" anchor="ctr"/>
          <a:lstStyle/>
          <a:p>
            <a:pPr algn="ctr" indent="0" marL="0">
              <a:buNone/>
            </a:pPr>
            <a:r>
              <a:rPr lang="en-US" sz="1400" b="1" dirty="0">
                <a:solidFill>
                  <a:schemeClr val="accent2"/>
                </a:solidFill>
              </a:rPr>
              <a:t>each line of speech reaches its toy in about 0.2 s</a:t>
            </a:r>
            <a:endParaRPr lang="en-US" sz="1400" dirty="0"/>
          </a:p>
        </p:txBody>
      </p:sp>
      <p:sp>
        <p:nvSpPr>
          <p:cNvPr id="42" name="Text 32"/>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300" i="1" dirty="0">
                <a:solidFill>
                  <a:schemeClr val="tx2"/>
                </a:solidFill>
              </a:rPr>
              <a:t>Today: Gemma via llama.cpp with Whisper on an Intel Mac. Ready to run: a LiteRT-LM build for Raspberry Pi 5 and Jetson, where Gemma hears the audio directly.</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WHY THE BRAIN LIVES OUTSIDE THE TOY</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It's arithmetic, not a preference</a:t>
            </a:r>
            <a:endParaRPr lang="en-US" sz="3600" dirty="0"/>
          </a:p>
        </p:txBody>
      </p:sp>
      <p:sp>
        <p:nvSpPr>
          <p:cNvPr id="4" name="Text 2"/>
          <p:cNvSpPr txBox="1"/>
          <p:nvPr/>
        </p:nvSpPr>
        <p:spPr>
          <a:xfrm>
            <a:off x="640080" y="1874520"/>
            <a:ext cx="3291840" cy="1280160"/>
          </a:xfrm>
          <a:prstGeom prst="rect">
            <a:avLst/>
          </a:prstGeom>
          <a:noFill/>
          <a:ln/>
        </p:spPr>
        <p:txBody>
          <a:bodyPr wrap="square" lIns="0" tIns="0" rIns="0" bIns="0" rtlCol="0" anchor="ctr"/>
          <a:lstStyle/>
          <a:p>
            <a:pPr algn="ctr" indent="0" marL="0">
              <a:buNone/>
            </a:pPr>
            <a:r>
              <a:rPr lang="en-US" sz="6600" b="1" dirty="0">
                <a:solidFill>
                  <a:schemeClr val="tx1"/>
                </a:solidFill>
                <a:latin typeface="Century Schoolbook" pitchFamily="34" charset="0"/>
                <a:ea typeface="Century Schoolbook" pitchFamily="34" charset="-122"/>
                <a:cs typeface="Century Schoolbook" pitchFamily="34" charset="-120"/>
              </a:rPr>
              <a:t>2.6 GB</a:t>
            </a:r>
            <a:endParaRPr lang="en-US" sz="6600" dirty="0"/>
          </a:p>
        </p:txBody>
      </p:sp>
      <p:sp>
        <p:nvSpPr>
          <p:cNvPr id="5" name="Text 3"/>
          <p:cNvSpPr txBox="1"/>
          <p:nvPr/>
        </p:nvSpPr>
        <p:spPr>
          <a:xfrm>
            <a:off x="640080" y="3154680"/>
            <a:ext cx="3291840" cy="640080"/>
          </a:xfrm>
          <a:prstGeom prst="rect">
            <a:avLst/>
          </a:prstGeom>
          <a:noFill/>
          <a:ln/>
        </p:spPr>
        <p:txBody>
          <a:bodyPr wrap="square" lIns="0" tIns="0" rIns="0" bIns="0" rtlCol="0" anchor="t"/>
          <a:lstStyle/>
          <a:p>
            <a:pPr algn="ctr" indent="0" marL="0">
              <a:buNone/>
            </a:pPr>
            <a:r>
              <a:rPr lang="en-US" sz="1600" dirty="0">
                <a:solidFill>
                  <a:schemeClr val="tx2"/>
                </a:solidFill>
              </a:rPr>
              <a:t>Gemma 4 E2B model file</a:t>
            </a:r>
            <a:endParaRPr lang="en-US" sz="1600" dirty="0"/>
          </a:p>
        </p:txBody>
      </p:sp>
      <p:sp>
        <p:nvSpPr>
          <p:cNvPr id="6" name="Text 4"/>
          <p:cNvSpPr txBox="1"/>
          <p:nvPr/>
        </p:nvSpPr>
        <p:spPr>
          <a:xfrm>
            <a:off x="3977640" y="1874520"/>
            <a:ext cx="731520" cy="1280160"/>
          </a:xfrm>
          <a:prstGeom prst="rect">
            <a:avLst/>
          </a:prstGeom>
          <a:noFill/>
          <a:ln/>
        </p:spPr>
        <p:txBody>
          <a:bodyPr wrap="square" lIns="0" tIns="0" rIns="0" bIns="0" rtlCol="0" anchor="ctr"/>
          <a:lstStyle/>
          <a:p>
            <a:pPr algn="ctr" indent="0" marL="0">
              <a:buNone/>
            </a:pPr>
            <a:r>
              <a:rPr lang="en-US" sz="5400" dirty="0">
                <a:solidFill>
                  <a:schemeClr val="accent6"/>
                </a:solidFill>
              </a:rPr>
              <a:t>÷</a:t>
            </a:r>
            <a:endParaRPr lang="en-US" sz="5400" dirty="0"/>
          </a:p>
        </p:txBody>
      </p:sp>
      <p:sp>
        <p:nvSpPr>
          <p:cNvPr id="7" name="Text 5"/>
          <p:cNvSpPr txBox="1"/>
          <p:nvPr/>
        </p:nvSpPr>
        <p:spPr>
          <a:xfrm>
            <a:off x="4434840" y="1874520"/>
            <a:ext cx="3291840" cy="1280160"/>
          </a:xfrm>
          <a:prstGeom prst="rect">
            <a:avLst/>
          </a:prstGeom>
          <a:noFill/>
          <a:ln/>
        </p:spPr>
        <p:txBody>
          <a:bodyPr wrap="square" lIns="0" tIns="0" rIns="0" bIns="0" rtlCol="0" anchor="ctr"/>
          <a:lstStyle/>
          <a:p>
            <a:pPr algn="ctr" indent="0" marL="0">
              <a:buNone/>
            </a:pPr>
            <a:r>
              <a:rPr lang="en-US" sz="6600" b="1" dirty="0">
                <a:solidFill>
                  <a:schemeClr val="accent3"/>
                </a:solidFill>
                <a:latin typeface="Century Schoolbook" pitchFamily="34" charset="0"/>
                <a:ea typeface="Century Schoolbook" pitchFamily="34" charset="-122"/>
                <a:cs typeface="Century Schoolbook" pitchFamily="34" charset="-120"/>
              </a:rPr>
              <a:t>8 MB</a:t>
            </a:r>
            <a:endParaRPr lang="en-US" sz="6600" dirty="0"/>
          </a:p>
        </p:txBody>
      </p:sp>
      <p:sp>
        <p:nvSpPr>
          <p:cNvPr id="8" name="Text 6"/>
          <p:cNvSpPr txBox="1"/>
          <p:nvPr/>
        </p:nvSpPr>
        <p:spPr>
          <a:xfrm>
            <a:off x="4434840" y="3154680"/>
            <a:ext cx="3291840" cy="640080"/>
          </a:xfrm>
          <a:prstGeom prst="rect">
            <a:avLst/>
          </a:prstGeom>
          <a:noFill/>
          <a:ln/>
        </p:spPr>
        <p:txBody>
          <a:bodyPr wrap="square" lIns="0" tIns="0" rIns="0" bIns="0" rtlCol="0" anchor="t"/>
          <a:lstStyle/>
          <a:p>
            <a:pPr algn="ctr" indent="0" marL="0">
              <a:buNone/>
            </a:pPr>
            <a:r>
              <a:rPr lang="en-US" sz="1600" dirty="0">
                <a:solidFill>
                  <a:schemeClr val="tx2"/>
                </a:solidFill>
              </a:rPr>
              <a:t>memory inside each toy</a:t>
            </a:r>
            <a:endParaRPr lang="en-US" sz="1600" dirty="0"/>
          </a:p>
        </p:txBody>
      </p:sp>
      <p:sp>
        <p:nvSpPr>
          <p:cNvPr id="9" name="Text 7"/>
          <p:cNvSpPr txBox="1"/>
          <p:nvPr/>
        </p:nvSpPr>
        <p:spPr>
          <a:xfrm>
            <a:off x="7772400" y="1874520"/>
            <a:ext cx="731520" cy="1280160"/>
          </a:xfrm>
          <a:prstGeom prst="rect">
            <a:avLst/>
          </a:prstGeom>
          <a:noFill/>
          <a:ln/>
        </p:spPr>
        <p:txBody>
          <a:bodyPr wrap="square" lIns="0" tIns="0" rIns="0" bIns="0" rtlCol="0" anchor="ctr"/>
          <a:lstStyle/>
          <a:p>
            <a:pPr algn="ctr" indent="0" marL="0">
              <a:buNone/>
            </a:pPr>
            <a:r>
              <a:rPr lang="en-US" sz="5400" dirty="0">
                <a:solidFill>
                  <a:schemeClr val="accent6"/>
                </a:solidFill>
              </a:rPr>
              <a:t>=</a:t>
            </a:r>
            <a:endParaRPr lang="en-US" sz="5400" dirty="0"/>
          </a:p>
        </p:txBody>
      </p:sp>
      <p:sp>
        <p:nvSpPr>
          <p:cNvPr id="10" name="Text 8"/>
          <p:cNvSpPr txBox="1"/>
          <p:nvPr/>
        </p:nvSpPr>
        <p:spPr>
          <a:xfrm>
            <a:off x="8229600" y="1874520"/>
            <a:ext cx="3291840" cy="1280160"/>
          </a:xfrm>
          <a:prstGeom prst="rect">
            <a:avLst/>
          </a:prstGeom>
          <a:noFill/>
          <a:ln/>
        </p:spPr>
        <p:txBody>
          <a:bodyPr wrap="square" lIns="0" tIns="0" rIns="0" bIns="0" rtlCol="0" anchor="ctr"/>
          <a:lstStyle/>
          <a:p>
            <a:pPr algn="ctr" indent="0" marL="0">
              <a:buNone/>
            </a:pPr>
            <a:r>
              <a:rPr lang="en-US" sz="6600" b="1" dirty="0">
                <a:solidFill>
                  <a:schemeClr val="accent4"/>
                </a:solidFill>
                <a:latin typeface="Century Schoolbook" pitchFamily="34" charset="0"/>
                <a:ea typeface="Century Schoolbook" pitchFamily="34" charset="-122"/>
                <a:cs typeface="Century Schoolbook" pitchFamily="34" charset="-120"/>
              </a:rPr>
              <a:t>~320×</a:t>
            </a:r>
            <a:endParaRPr lang="en-US" sz="6600" dirty="0"/>
          </a:p>
        </p:txBody>
      </p:sp>
      <p:sp>
        <p:nvSpPr>
          <p:cNvPr id="11" name="Text 9"/>
          <p:cNvSpPr txBox="1"/>
          <p:nvPr/>
        </p:nvSpPr>
        <p:spPr>
          <a:xfrm>
            <a:off x="8229600" y="3154680"/>
            <a:ext cx="3291840" cy="640080"/>
          </a:xfrm>
          <a:prstGeom prst="rect">
            <a:avLst/>
          </a:prstGeom>
          <a:noFill/>
          <a:ln/>
        </p:spPr>
        <p:txBody>
          <a:bodyPr wrap="square" lIns="0" tIns="0" rIns="0" bIns="0" rtlCol="0" anchor="t"/>
          <a:lstStyle/>
          <a:p>
            <a:pPr algn="ctr" indent="0" marL="0">
              <a:buNone/>
            </a:pPr>
            <a:r>
              <a:rPr lang="en-US" sz="1600" dirty="0">
                <a:solidFill>
                  <a:schemeClr val="tx2"/>
                </a:solidFill>
              </a:rPr>
              <a:t>too big to fit</a:t>
            </a:r>
            <a:endParaRPr lang="en-US" sz="1600" dirty="0"/>
          </a:p>
        </p:txBody>
      </p:sp>
      <p:sp>
        <p:nvSpPr>
          <p:cNvPr id="12" name="quote card"/>
          <p:cNvSpPr/>
          <p:nvPr/>
        </p:nvSpPr>
        <p:spPr>
          <a:xfrm>
            <a:off x="1463040" y="4251960"/>
            <a:ext cx="9235440" cy="1600200"/>
          </a:xfrm>
          <a:prstGeom prst="roundRect">
            <a:avLst>
              <a:gd name="adj" fmla="val 11429"/>
            </a:avLst>
          </a:prstGeom>
          <a:solidFill>
            <a:schemeClr val="bg2"/>
          </a:solidFill>
          <a:ln/>
        </p:spPr>
      </p:sp>
      <p:sp>
        <p:nvSpPr>
          <p:cNvPr id="13" name="heart circle"/>
          <p:cNvSpPr/>
          <p:nvPr/>
        </p:nvSpPr>
        <p:spPr>
          <a:xfrm>
            <a:off x="1828800" y="4636008"/>
            <a:ext cx="822960" cy="822960"/>
          </a:xfrm>
          <a:prstGeom prst="ellipse">
            <a:avLst/>
          </a:prstGeom>
          <a:solidFill>
            <a:schemeClr val="accent3"/>
          </a:solidFill>
          <a:ln/>
        </p:spPr>
      </p:sp>
      <p:pic>
        <p:nvPicPr>
          <p:cNvPr id="14" name="heart icon" descr="preencoded.png">    </p:cNvPr>
          <p:cNvPicPr>
            <a:picLocks noChangeAspect="1"/>
          </p:cNvPicPr>
          <p:nvPr/>
        </p:nvPicPr>
        <p:blipFill>
          <a:blip r:embed="rId1"/>
          <a:stretch>
            <a:fillRect/>
          </a:stretch>
        </p:blipFill>
        <p:spPr>
          <a:xfrm>
            <a:off x="2009851" y="4817059"/>
            <a:ext cx="460858" cy="460858"/>
          </a:xfrm>
          <a:prstGeom prst="rect">
            <a:avLst/>
          </a:prstGeom>
        </p:spPr>
      </p:pic>
      <p:sp>
        <p:nvSpPr>
          <p:cNvPr id="15" name="Text 12"/>
          <p:cNvSpPr txBox="1"/>
          <p:nvPr/>
        </p:nvSpPr>
        <p:spPr>
          <a:xfrm>
            <a:off x="2926080" y="4389120"/>
            <a:ext cx="7498080" cy="1325880"/>
          </a:xfrm>
          <a:prstGeom prst="rect">
            <a:avLst/>
          </a:prstGeom>
          <a:noFill/>
          <a:ln/>
        </p:spPr>
        <p:txBody>
          <a:bodyPr wrap="square" lIns="0" tIns="0" rIns="0" bIns="0" rtlCol="0" anchor="ctr"/>
          <a:lstStyle/>
          <a:p>
            <a:pPr indent="0" marL="0">
              <a:buNone/>
            </a:pPr>
            <a:r>
              <a:rPr lang="en-US" sz="2200" i="1" dirty="0">
                <a:solidFill>
                  <a:schemeClr val="tx1"/>
                </a:solidFill>
                <a:latin typeface="Century Schoolbook" pitchFamily="34" charset="0"/>
                <a:ea typeface="Century Schoolbook" pitchFamily="34" charset="-122"/>
                <a:cs typeface="Century Schoolbook" pitchFamily="34" charset="-120"/>
              </a:rPr>
              <a:t>The toy keeps what it's good at: being hugged.</a:t>
            </a:r>
            <a:endParaRPr lang="en-US" sz="2200" dirty="0"/>
          </a:p>
          <a:p>
            <a:pPr indent="0" marL="0">
              <a:buNone/>
            </a:pPr>
            <a:r>
              <a:rPr lang="en-US" sz="2200" i="1" dirty="0">
                <a:solidFill>
                  <a:schemeClr val="tx1"/>
                </a:solidFill>
                <a:latin typeface="Century Schoolbook" pitchFamily="34" charset="0"/>
                <a:ea typeface="Century Schoolbook" pitchFamily="34" charset="-122"/>
                <a:cs typeface="Century Schoolbook" pitchFamily="34" charset="-120"/>
              </a:rPr>
              <a:t>The brain does what it's good at: thinking.</a:t>
            </a:r>
            <a:endParaRPr lang="en-US" sz="2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PLUSSING: WALT'S WORD FOR MAKING IT BETTER, AGAIN AND AGAIN</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We kept plussing it</a:t>
            </a:r>
            <a:endParaRPr lang="en-US" sz="3600" dirty="0"/>
          </a:p>
        </p:txBody>
      </p:sp>
      <p:graphicFrame>
        <p:nvGraphicFramePr>
          <p:cNvPr id="4" name="delay chart" descr=""/>
          <p:cNvGraphicFramePr/>
          <p:nvPr/>
        </p:nvGraphicFramePr>
        <p:xfrm>
          <a:off x="548640" y="164592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95160" y="1645920"/>
            <a:ext cx="4617720" cy="411480"/>
          </a:xfrm>
          <a:prstGeom prst="rect">
            <a:avLst/>
          </a:prstGeom>
          <a:noFill/>
          <a:ln/>
        </p:spPr>
        <p:txBody>
          <a:bodyPr wrap="square" lIns="0" tIns="0" rIns="0" bIns="0" rtlCol="0" anchor="ctr"/>
          <a:lstStyle/>
          <a:p>
            <a:pPr indent="0" marL="0">
              <a:buNone/>
            </a:pPr>
            <a:r>
              <a:rPr lang="en-US" sz="1800" b="1" dirty="0">
                <a:solidFill>
                  <a:schemeClr val="tx1"/>
                </a:solidFill>
              </a:rPr>
              <a:t>Three mysteries solved</a:t>
            </a:r>
            <a:endParaRPr lang="en-US" sz="1800" dirty="0"/>
          </a:p>
        </p:txBody>
      </p:sp>
      <p:sp>
        <p:nvSpPr>
          <p:cNvPr id="6" name="mystery 1"/>
          <p:cNvSpPr/>
          <p:nvPr/>
        </p:nvSpPr>
        <p:spPr>
          <a:xfrm>
            <a:off x="6995160" y="2194560"/>
            <a:ext cx="4617720" cy="1078992"/>
          </a:xfrm>
          <a:prstGeom prst="roundRect">
            <a:avLst>
              <a:gd name="adj" fmla="val 12712"/>
            </a:avLst>
          </a:prstGeom>
          <a:solidFill>
            <a:schemeClr val="bg2"/>
          </a:solidFill>
          <a:ln/>
        </p:spPr>
      </p:sp>
      <p:sp>
        <p:nvSpPr>
          <p:cNvPr id="7" name="mystery 1 circle"/>
          <p:cNvSpPr/>
          <p:nvPr/>
        </p:nvSpPr>
        <p:spPr>
          <a:xfrm>
            <a:off x="7178040" y="2414016"/>
            <a:ext cx="640080" cy="640080"/>
          </a:xfrm>
          <a:prstGeom prst="ellipse">
            <a:avLst/>
          </a:prstGeom>
          <a:solidFill>
            <a:schemeClr val="accent4"/>
          </a:solidFill>
          <a:ln/>
        </p:spPr>
      </p:sp>
      <p:pic>
        <p:nvPicPr>
          <p:cNvPr id="8" name="mystery 1 icon" descr="preencoded.png">    </p:cNvPr>
          <p:cNvPicPr>
            <a:picLocks noChangeAspect="1"/>
          </p:cNvPicPr>
          <p:nvPr/>
        </p:nvPicPr>
        <p:blipFill>
          <a:blip r:embed="rId2"/>
          <a:stretch>
            <a:fillRect/>
          </a:stretch>
        </p:blipFill>
        <p:spPr>
          <a:xfrm>
            <a:off x="7318858" y="2554834"/>
            <a:ext cx="358445" cy="358445"/>
          </a:xfrm>
          <a:prstGeom prst="rect">
            <a:avLst/>
          </a:prstGeom>
        </p:spPr>
      </p:pic>
      <p:sp>
        <p:nvSpPr>
          <p:cNvPr id="9" name="Text 5"/>
          <p:cNvSpPr txBox="1"/>
          <p:nvPr/>
        </p:nvSpPr>
        <p:spPr>
          <a:xfrm>
            <a:off x="8001000" y="2286000"/>
            <a:ext cx="3474720" cy="365760"/>
          </a:xfrm>
          <a:prstGeom prst="rect">
            <a:avLst/>
          </a:prstGeom>
          <a:noFill/>
          <a:ln/>
        </p:spPr>
        <p:txBody>
          <a:bodyPr wrap="square" lIns="0" tIns="0" rIns="0" bIns="0" rtlCol="0" anchor="ctr"/>
          <a:lstStyle/>
          <a:p>
            <a:pPr indent="0" marL="0">
              <a:buNone/>
            </a:pPr>
            <a:r>
              <a:rPr lang="en-US" sz="1600" b="1" dirty="0">
                <a:solidFill>
                  <a:schemeClr val="tx1"/>
                </a:solidFill>
              </a:rPr>
              <a:t>The silent mic</a:t>
            </a:r>
            <a:endParaRPr lang="en-US" sz="1600" dirty="0"/>
          </a:p>
        </p:txBody>
      </p:sp>
      <p:sp>
        <p:nvSpPr>
          <p:cNvPr id="10" name="Text 6"/>
          <p:cNvSpPr txBox="1"/>
          <p:nvPr/>
        </p:nvSpPr>
        <p:spPr>
          <a:xfrm>
            <a:off x="8001000" y="2633472"/>
            <a:ext cx="3474720" cy="594360"/>
          </a:xfrm>
          <a:prstGeom prst="rect">
            <a:avLst/>
          </a:prstGeom>
          <a:noFill/>
          <a:ln/>
        </p:spPr>
        <p:txBody>
          <a:bodyPr wrap="square" lIns="0" tIns="0" rIns="0" bIns="0" rtlCol="0" anchor="t"/>
          <a:lstStyle/>
          <a:p>
            <a:pPr indent="0" marL="0">
              <a:buNone/>
            </a:pPr>
            <a:r>
              <a:rPr lang="en-US" sz="1300" dirty="0">
                <a:solidFill>
                  <a:schemeClr val="tx2"/>
                </a:solidFill>
              </a:rPr>
              <a:t>The sound chip spoke in the other stereo channel, so every mic heard nothing.</a:t>
            </a:r>
            <a:endParaRPr lang="en-US" sz="1300" dirty="0"/>
          </a:p>
        </p:txBody>
      </p:sp>
      <p:sp>
        <p:nvSpPr>
          <p:cNvPr id="11" name="mystery 2"/>
          <p:cNvSpPr/>
          <p:nvPr/>
        </p:nvSpPr>
        <p:spPr>
          <a:xfrm>
            <a:off x="6995160" y="3429000"/>
            <a:ext cx="4617720" cy="1078992"/>
          </a:xfrm>
          <a:prstGeom prst="roundRect">
            <a:avLst>
              <a:gd name="adj" fmla="val 12712"/>
            </a:avLst>
          </a:prstGeom>
          <a:solidFill>
            <a:schemeClr val="bg2"/>
          </a:solidFill>
          <a:ln/>
        </p:spPr>
      </p:sp>
      <p:sp>
        <p:nvSpPr>
          <p:cNvPr id="12" name="mystery 2 circle"/>
          <p:cNvSpPr/>
          <p:nvPr/>
        </p:nvSpPr>
        <p:spPr>
          <a:xfrm>
            <a:off x="7178040" y="3648456"/>
            <a:ext cx="640080" cy="640080"/>
          </a:xfrm>
          <a:prstGeom prst="ellipse">
            <a:avLst/>
          </a:prstGeom>
          <a:solidFill>
            <a:schemeClr val="accent3"/>
          </a:solidFill>
          <a:ln/>
        </p:spPr>
      </p:sp>
      <p:pic>
        <p:nvPicPr>
          <p:cNvPr id="13" name="mystery 2 icon" descr="preencoded.png">    </p:cNvPr>
          <p:cNvPicPr>
            <a:picLocks noChangeAspect="1"/>
          </p:cNvPicPr>
          <p:nvPr/>
        </p:nvPicPr>
        <p:blipFill>
          <a:blip r:embed="rId3"/>
          <a:stretch>
            <a:fillRect/>
          </a:stretch>
        </p:blipFill>
        <p:spPr>
          <a:xfrm>
            <a:off x="7318858" y="3789274"/>
            <a:ext cx="358445" cy="358445"/>
          </a:xfrm>
          <a:prstGeom prst="rect">
            <a:avLst/>
          </a:prstGeom>
        </p:spPr>
      </p:pic>
      <p:sp>
        <p:nvSpPr>
          <p:cNvPr id="14" name="Text 9"/>
          <p:cNvSpPr txBox="1"/>
          <p:nvPr/>
        </p:nvSpPr>
        <p:spPr>
          <a:xfrm>
            <a:off x="8001000" y="3520440"/>
            <a:ext cx="3474720" cy="365760"/>
          </a:xfrm>
          <a:prstGeom prst="rect">
            <a:avLst/>
          </a:prstGeom>
          <a:noFill/>
          <a:ln/>
        </p:spPr>
        <p:txBody>
          <a:bodyPr wrap="square" lIns="0" tIns="0" rIns="0" bIns="0" rtlCol="0" anchor="ctr"/>
          <a:lstStyle/>
          <a:p>
            <a:pPr indent="0" marL="0">
              <a:buNone/>
            </a:pPr>
            <a:r>
              <a:rPr lang="en-US" sz="1600" b="1" dirty="0">
                <a:solidFill>
                  <a:schemeClr val="tx1"/>
                </a:solidFill>
              </a:rPr>
              <a:t>The camera that couldn't JPEG</a:t>
            </a:r>
            <a:endParaRPr lang="en-US" sz="1600" dirty="0"/>
          </a:p>
        </p:txBody>
      </p:sp>
      <p:sp>
        <p:nvSpPr>
          <p:cNvPr id="15" name="Text 10"/>
          <p:cNvSpPr txBox="1"/>
          <p:nvPr/>
        </p:nvSpPr>
        <p:spPr>
          <a:xfrm>
            <a:off x="8001000" y="3867912"/>
            <a:ext cx="3474720" cy="594360"/>
          </a:xfrm>
          <a:prstGeom prst="rect">
            <a:avLst/>
          </a:prstGeom>
          <a:noFill/>
          <a:ln/>
        </p:spPr>
        <p:txBody>
          <a:bodyPr wrap="square" lIns="0" tIns="0" rIns="0" bIns="0" rtlCol="0" anchor="t"/>
          <a:lstStyle/>
          <a:p>
            <a:pPr indent="0" marL="0">
              <a:buNone/>
            </a:pPr>
            <a:r>
              <a:rPr lang="en-US" sz="1300" dirty="0">
                <a:solidFill>
                  <a:schemeClr val="tx2"/>
                </a:solidFill>
              </a:rPr>
              <a:t>This sensor has no JPEG encoder, so each toy compresses its own pictures.</a:t>
            </a:r>
            <a:endParaRPr lang="en-US" sz="1300" dirty="0"/>
          </a:p>
        </p:txBody>
      </p:sp>
      <p:sp>
        <p:nvSpPr>
          <p:cNvPr id="16" name="mystery 3"/>
          <p:cNvSpPr/>
          <p:nvPr/>
        </p:nvSpPr>
        <p:spPr>
          <a:xfrm>
            <a:off x="6995160" y="4663440"/>
            <a:ext cx="4617720" cy="1078992"/>
          </a:xfrm>
          <a:prstGeom prst="roundRect">
            <a:avLst>
              <a:gd name="adj" fmla="val 12712"/>
            </a:avLst>
          </a:prstGeom>
          <a:solidFill>
            <a:schemeClr val="bg2"/>
          </a:solidFill>
          <a:ln/>
        </p:spPr>
      </p:sp>
      <p:sp>
        <p:nvSpPr>
          <p:cNvPr id="17" name="mystery 3 circle"/>
          <p:cNvSpPr/>
          <p:nvPr/>
        </p:nvSpPr>
        <p:spPr>
          <a:xfrm>
            <a:off x="7178040" y="4882896"/>
            <a:ext cx="640080" cy="640080"/>
          </a:xfrm>
          <a:prstGeom prst="ellipse">
            <a:avLst/>
          </a:prstGeom>
          <a:solidFill>
            <a:schemeClr val="accent2"/>
          </a:solidFill>
          <a:ln/>
        </p:spPr>
      </p:sp>
      <p:pic>
        <p:nvPicPr>
          <p:cNvPr id="18" name="mystery 3 icon" descr="preencoded.png">    </p:cNvPr>
          <p:cNvPicPr>
            <a:picLocks noChangeAspect="1"/>
          </p:cNvPicPr>
          <p:nvPr/>
        </p:nvPicPr>
        <p:blipFill>
          <a:blip r:embed="rId4"/>
          <a:stretch>
            <a:fillRect/>
          </a:stretch>
        </p:blipFill>
        <p:spPr>
          <a:xfrm>
            <a:off x="7318858" y="5023714"/>
            <a:ext cx="358445" cy="358445"/>
          </a:xfrm>
          <a:prstGeom prst="rect">
            <a:avLst/>
          </a:prstGeom>
        </p:spPr>
      </p:pic>
      <p:sp>
        <p:nvSpPr>
          <p:cNvPr id="19" name="Text 13"/>
          <p:cNvSpPr txBox="1"/>
          <p:nvPr/>
        </p:nvSpPr>
        <p:spPr>
          <a:xfrm>
            <a:off x="8001000" y="4754880"/>
            <a:ext cx="3474720" cy="365760"/>
          </a:xfrm>
          <a:prstGeom prst="rect">
            <a:avLst/>
          </a:prstGeom>
          <a:noFill/>
          <a:ln/>
        </p:spPr>
        <p:txBody>
          <a:bodyPr wrap="square" lIns="0" tIns="0" rIns="0" bIns="0" rtlCol="0" anchor="ctr"/>
          <a:lstStyle/>
          <a:p>
            <a:pPr indent="0" marL="0">
              <a:buNone/>
            </a:pPr>
            <a:r>
              <a:rPr lang="en-US" sz="1600" b="1" dirty="0">
                <a:solidFill>
                  <a:schemeClr val="tx1"/>
                </a:solidFill>
              </a:rPr>
              <a:t>Three toys, one name</a:t>
            </a:r>
            <a:endParaRPr lang="en-US" sz="1600" dirty="0"/>
          </a:p>
        </p:txBody>
      </p:sp>
      <p:sp>
        <p:nvSpPr>
          <p:cNvPr id="20" name="Text 14"/>
          <p:cNvSpPr txBox="1"/>
          <p:nvPr/>
        </p:nvSpPr>
        <p:spPr>
          <a:xfrm>
            <a:off x="8001000" y="5102352"/>
            <a:ext cx="3474720" cy="594360"/>
          </a:xfrm>
          <a:prstGeom prst="rect">
            <a:avLst/>
          </a:prstGeom>
          <a:noFill/>
          <a:ln/>
        </p:spPr>
        <p:txBody>
          <a:bodyPr wrap="square" lIns="0" tIns="0" rIns="0" bIns="0" rtlCol="0" anchor="t"/>
          <a:lstStyle/>
          <a:p>
            <a:pPr indent="0" marL="0">
              <a:buNone/>
            </a:pPr>
            <a:r>
              <a:rPr lang="en-US" sz="1300" dirty="0">
                <a:solidFill>
                  <a:schemeClr val="tx2"/>
                </a:solidFill>
              </a:rPr>
              <a:t>Every board reported the same ID, so the brain thought all three were Dyno.</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ctr"/>
          <a:lstStyle/>
          <a:p>
            <a:pPr indent="0" marL="0">
              <a:buNone/>
            </a:pPr>
            <a:r>
              <a:rPr lang="en-US" sz="1200" b="1" spc="200" kern="0" dirty="0">
                <a:solidFill>
                  <a:schemeClr val="tx2"/>
                </a:solidFill>
              </a:rPr>
              <a:t>BUILT FOR A PARENT'S TRUST</a:t>
            </a:r>
            <a:endParaRPr lang="en-US" sz="1200" dirty="0"/>
          </a:p>
        </p:txBody>
      </p:sp>
      <p:sp>
        <p:nvSpPr>
          <p:cNvPr id="3" name="Text 0"/>
          <p:cNvSpPr/>
          <p:nvPr>
            <p:ph idx="101" type="title" hasCustomPrompt="1"/>
          </p:nvPr>
        </p:nvSpPr>
        <p:spPr>
          <a:xfrm>
            <a:off x="548640" y="603504"/>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Magic that stays in the room</a:t>
            </a:r>
            <a:endParaRPr lang="en-US" sz="3600" dirty="0"/>
          </a:p>
        </p:txBody>
      </p:sp>
      <p:sp>
        <p:nvSpPr>
          <p:cNvPr id="4" name="Nothing leaves the room tile"/>
          <p:cNvSpPr/>
          <p:nvPr/>
        </p:nvSpPr>
        <p:spPr>
          <a:xfrm>
            <a:off x="548640" y="169164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5" name="Nothing leaves the room circle"/>
          <p:cNvSpPr/>
          <p:nvPr/>
        </p:nvSpPr>
        <p:spPr>
          <a:xfrm>
            <a:off x="822960" y="1965960"/>
            <a:ext cx="685800" cy="685800"/>
          </a:xfrm>
          <a:prstGeom prst="ellipse">
            <a:avLst/>
          </a:prstGeom>
          <a:solidFill>
            <a:schemeClr val="tx1"/>
          </a:solidFill>
          <a:ln/>
        </p:spPr>
      </p:sp>
      <p:pic>
        <p:nvPicPr>
          <p:cNvPr id="6" name="Nothing leaves the room icon" descr="preencoded.png">    </p:cNvPr>
          <p:cNvPicPr>
            <a:picLocks noChangeAspect="1"/>
          </p:cNvPicPr>
          <p:nvPr/>
        </p:nvPicPr>
        <p:blipFill>
          <a:blip r:embed="rId1"/>
          <a:stretch>
            <a:fillRect/>
          </a:stretch>
        </p:blipFill>
        <p:spPr>
          <a:xfrm>
            <a:off x="973836" y="2116836"/>
            <a:ext cx="384048" cy="384048"/>
          </a:xfrm>
          <a:prstGeom prst="rect">
            <a:avLst/>
          </a:prstGeom>
        </p:spPr>
      </p:pic>
      <p:sp>
        <p:nvSpPr>
          <p:cNvPr id="7" name="Text 4"/>
          <p:cNvSpPr txBox="1"/>
          <p:nvPr/>
        </p:nvSpPr>
        <p:spPr>
          <a:xfrm>
            <a:off x="1645920" y="196596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Nothing leaves the room</a:t>
            </a:r>
            <a:endParaRPr lang="en-US" sz="1700" dirty="0"/>
          </a:p>
        </p:txBody>
      </p:sp>
      <p:sp>
        <p:nvSpPr>
          <p:cNvPr id="8" name="Text 5"/>
          <p:cNvSpPr txBox="1"/>
          <p:nvPr/>
        </p:nvSpPr>
        <p:spPr>
          <a:xfrm>
            <a:off x="822960" y="2788920"/>
            <a:ext cx="3017520" cy="822960"/>
          </a:xfrm>
          <a:prstGeom prst="rect">
            <a:avLst/>
          </a:prstGeom>
          <a:noFill/>
          <a:ln/>
        </p:spPr>
        <p:txBody>
          <a:bodyPr wrap="square" lIns="0" tIns="0" rIns="0" bIns="0" rtlCol="0" anchor="t"/>
          <a:lstStyle/>
          <a:p>
            <a:pPr indent="0" marL="0">
              <a:buNone/>
            </a:pPr>
            <a:r>
              <a:rPr lang="en-US" sz="1400" dirty="0">
                <a:solidFill>
                  <a:schemeClr val="tx2"/>
                </a:solidFill>
              </a:rPr>
              <a:t>No cloud, ever. The toys talk to a computer on the table over local Wi-Fi.</a:t>
            </a:r>
            <a:endParaRPr lang="en-US" sz="1400" dirty="0"/>
          </a:p>
        </p:txBody>
      </p:sp>
      <p:sp>
        <p:nvSpPr>
          <p:cNvPr id="9" name="No recordings kept tile"/>
          <p:cNvSpPr/>
          <p:nvPr/>
        </p:nvSpPr>
        <p:spPr>
          <a:xfrm>
            <a:off x="4297680" y="169164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10" name="No recordings kept circle"/>
          <p:cNvSpPr/>
          <p:nvPr/>
        </p:nvSpPr>
        <p:spPr>
          <a:xfrm>
            <a:off x="4572000" y="1965960"/>
            <a:ext cx="685800" cy="685800"/>
          </a:xfrm>
          <a:prstGeom prst="ellipse">
            <a:avLst/>
          </a:prstGeom>
          <a:solidFill>
            <a:schemeClr val="accent4"/>
          </a:solidFill>
          <a:ln/>
        </p:spPr>
      </p:sp>
      <p:pic>
        <p:nvPicPr>
          <p:cNvPr id="11" name="No recordings kept icon" descr="preencoded.png">    </p:cNvPr>
          <p:cNvPicPr>
            <a:picLocks noChangeAspect="1"/>
          </p:cNvPicPr>
          <p:nvPr/>
        </p:nvPicPr>
        <p:blipFill>
          <a:blip r:embed="rId2"/>
          <a:stretch>
            <a:fillRect/>
          </a:stretch>
        </p:blipFill>
        <p:spPr>
          <a:xfrm>
            <a:off x="4722876" y="2116836"/>
            <a:ext cx="384048" cy="384048"/>
          </a:xfrm>
          <a:prstGeom prst="rect">
            <a:avLst/>
          </a:prstGeom>
        </p:spPr>
      </p:pic>
      <p:sp>
        <p:nvSpPr>
          <p:cNvPr id="12" name="Text 8"/>
          <p:cNvSpPr txBox="1"/>
          <p:nvPr/>
        </p:nvSpPr>
        <p:spPr>
          <a:xfrm>
            <a:off x="5394960" y="196596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No recordings kept</a:t>
            </a:r>
            <a:endParaRPr lang="en-US" sz="1700" dirty="0"/>
          </a:p>
        </p:txBody>
      </p:sp>
      <p:sp>
        <p:nvSpPr>
          <p:cNvPr id="13" name="Text 9"/>
          <p:cNvSpPr txBox="1"/>
          <p:nvPr/>
        </p:nvSpPr>
        <p:spPr>
          <a:xfrm>
            <a:off x="4572000" y="2788920"/>
            <a:ext cx="3017520" cy="822960"/>
          </a:xfrm>
          <a:prstGeom prst="rect">
            <a:avLst/>
          </a:prstGeom>
          <a:noFill/>
          <a:ln/>
        </p:spPr>
        <p:txBody>
          <a:bodyPr wrap="square" lIns="0" tIns="0" rIns="0" bIns="0" rtlCol="0" anchor="t"/>
          <a:lstStyle/>
          <a:p>
            <a:pPr indent="0" marL="0">
              <a:buNone/>
            </a:pPr>
            <a:r>
              <a:rPr lang="en-US" sz="1400" dirty="0">
                <a:solidFill>
                  <a:schemeClr val="tx2"/>
                </a:solidFill>
              </a:rPr>
              <a:t>Speech lives in memory and is deleted as soon as Gemma has heard it.</a:t>
            </a:r>
            <a:endParaRPr lang="en-US" sz="1400" dirty="0"/>
          </a:p>
        </p:txBody>
      </p:sp>
      <p:sp>
        <p:nvSpPr>
          <p:cNvPr id="14" name="School-day topics tile"/>
          <p:cNvSpPr/>
          <p:nvPr/>
        </p:nvSpPr>
        <p:spPr>
          <a:xfrm>
            <a:off x="8046720" y="169164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15" name="School-day topics circle"/>
          <p:cNvSpPr/>
          <p:nvPr/>
        </p:nvSpPr>
        <p:spPr>
          <a:xfrm>
            <a:off x="8321040" y="1965960"/>
            <a:ext cx="685800" cy="685800"/>
          </a:xfrm>
          <a:prstGeom prst="ellipse">
            <a:avLst/>
          </a:prstGeom>
          <a:solidFill>
            <a:schemeClr val="accent2"/>
          </a:solidFill>
          <a:ln/>
        </p:spPr>
      </p:sp>
      <p:pic>
        <p:nvPicPr>
          <p:cNvPr id="16" name="School-day topics icon" descr="preencoded.png">    </p:cNvPr>
          <p:cNvPicPr>
            <a:picLocks noChangeAspect="1"/>
          </p:cNvPicPr>
          <p:nvPr/>
        </p:nvPicPr>
        <p:blipFill>
          <a:blip r:embed="rId3"/>
          <a:stretch>
            <a:fillRect/>
          </a:stretch>
        </p:blipFill>
        <p:spPr>
          <a:xfrm>
            <a:off x="8471916" y="2116836"/>
            <a:ext cx="384048" cy="384048"/>
          </a:xfrm>
          <a:prstGeom prst="rect">
            <a:avLst/>
          </a:prstGeom>
        </p:spPr>
      </p:pic>
      <p:sp>
        <p:nvSpPr>
          <p:cNvPr id="17" name="Text 12"/>
          <p:cNvSpPr txBox="1"/>
          <p:nvPr/>
        </p:nvSpPr>
        <p:spPr>
          <a:xfrm>
            <a:off x="9144000" y="196596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School-day topics</a:t>
            </a:r>
            <a:endParaRPr lang="en-US" sz="1700" dirty="0"/>
          </a:p>
        </p:txBody>
      </p:sp>
      <p:sp>
        <p:nvSpPr>
          <p:cNvPr id="18" name="Text 13"/>
          <p:cNvSpPr txBox="1"/>
          <p:nvPr/>
        </p:nvSpPr>
        <p:spPr>
          <a:xfrm>
            <a:off x="8321040" y="2788920"/>
            <a:ext cx="3017520" cy="822960"/>
          </a:xfrm>
          <a:prstGeom prst="rect">
            <a:avLst/>
          </a:prstGeom>
          <a:noFill/>
          <a:ln/>
        </p:spPr>
        <p:txBody>
          <a:bodyPr wrap="square" lIns="0" tIns="0" rIns="0" bIns="0" rtlCol="0" anchor="t"/>
          <a:lstStyle/>
          <a:p>
            <a:pPr indent="0" marL="0">
              <a:buNone/>
            </a:pPr>
            <a:r>
              <a:rPr lang="en-US" sz="1400" dirty="0">
                <a:solidFill>
                  <a:schemeClr val="tx2"/>
                </a:solidFill>
              </a:rPr>
              <a:t>Subjects, homework, toys and games. Off-topic chat gets kindly steered back.</a:t>
            </a:r>
            <a:endParaRPr lang="en-US" sz="1400" dirty="0"/>
          </a:p>
        </p:txBody>
      </p:sp>
      <p:sp>
        <p:nvSpPr>
          <p:cNvPr id="19" name="Hints, not answers tile"/>
          <p:cNvSpPr/>
          <p:nvPr/>
        </p:nvSpPr>
        <p:spPr>
          <a:xfrm>
            <a:off x="548640" y="393192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20" name="Hints, not answers circle"/>
          <p:cNvSpPr/>
          <p:nvPr/>
        </p:nvSpPr>
        <p:spPr>
          <a:xfrm>
            <a:off x="822960" y="4206240"/>
            <a:ext cx="685800" cy="685800"/>
          </a:xfrm>
          <a:prstGeom prst="ellipse">
            <a:avLst/>
          </a:prstGeom>
          <a:solidFill>
            <a:schemeClr val="accent3"/>
          </a:solidFill>
          <a:ln/>
        </p:spPr>
      </p:sp>
      <p:pic>
        <p:nvPicPr>
          <p:cNvPr id="21" name="Hints, not answers icon" descr="preencoded.png">    </p:cNvPr>
          <p:cNvPicPr>
            <a:picLocks noChangeAspect="1"/>
          </p:cNvPicPr>
          <p:nvPr/>
        </p:nvPicPr>
        <p:blipFill>
          <a:blip r:embed="rId4"/>
          <a:stretch>
            <a:fillRect/>
          </a:stretch>
        </p:blipFill>
        <p:spPr>
          <a:xfrm>
            <a:off x="973836" y="4357116"/>
            <a:ext cx="384048" cy="384048"/>
          </a:xfrm>
          <a:prstGeom prst="rect">
            <a:avLst/>
          </a:prstGeom>
        </p:spPr>
      </p:pic>
      <p:sp>
        <p:nvSpPr>
          <p:cNvPr id="22" name="Text 16"/>
          <p:cNvSpPr txBox="1"/>
          <p:nvPr/>
        </p:nvSpPr>
        <p:spPr>
          <a:xfrm>
            <a:off x="1645920" y="420624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Hints, not answers</a:t>
            </a:r>
            <a:endParaRPr lang="en-US" sz="1700" dirty="0"/>
          </a:p>
        </p:txBody>
      </p:sp>
      <p:sp>
        <p:nvSpPr>
          <p:cNvPr id="23" name="Text 17"/>
          <p:cNvSpPr txBox="1"/>
          <p:nvPr/>
        </p:nvSpPr>
        <p:spPr>
          <a:xfrm>
            <a:off x="822960" y="5029200"/>
            <a:ext cx="3017520" cy="822960"/>
          </a:xfrm>
          <a:prstGeom prst="rect">
            <a:avLst/>
          </a:prstGeom>
          <a:noFill/>
          <a:ln/>
        </p:spPr>
        <p:txBody>
          <a:bodyPr wrap="square" lIns="0" tIns="0" rIns="0" bIns="0" rtlCol="0" anchor="t"/>
          <a:lstStyle/>
          <a:p>
            <a:pPr indent="0" marL="0">
              <a:buNone/>
            </a:pPr>
            <a:r>
              <a:rPr lang="en-US" sz="1400" dirty="0">
                <a:solidFill>
                  <a:schemeClr val="tx2"/>
                </a:solidFill>
              </a:rPr>
              <a:t>Homework help that keeps the child thinking.</a:t>
            </a:r>
            <a:endParaRPr lang="en-US" sz="1400" dirty="0"/>
          </a:p>
        </p:txBody>
      </p:sp>
      <p:sp>
        <p:nvSpPr>
          <p:cNvPr id="24" name="Feelings first tile"/>
          <p:cNvSpPr/>
          <p:nvPr/>
        </p:nvSpPr>
        <p:spPr>
          <a:xfrm>
            <a:off x="4297680" y="393192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25" name="Feelings first circle"/>
          <p:cNvSpPr/>
          <p:nvPr/>
        </p:nvSpPr>
        <p:spPr>
          <a:xfrm>
            <a:off x="4572000" y="4206240"/>
            <a:ext cx="685800" cy="685800"/>
          </a:xfrm>
          <a:prstGeom prst="ellipse">
            <a:avLst/>
          </a:prstGeom>
          <a:solidFill>
            <a:schemeClr val="accent3"/>
          </a:solidFill>
          <a:ln/>
        </p:spPr>
      </p:sp>
      <p:pic>
        <p:nvPicPr>
          <p:cNvPr id="26" name="Feelings first icon" descr="preencoded.png">    </p:cNvPr>
          <p:cNvPicPr>
            <a:picLocks noChangeAspect="1"/>
          </p:cNvPicPr>
          <p:nvPr/>
        </p:nvPicPr>
        <p:blipFill>
          <a:blip r:embed="rId5"/>
          <a:stretch>
            <a:fillRect/>
          </a:stretch>
        </p:blipFill>
        <p:spPr>
          <a:xfrm>
            <a:off x="4722876" y="4357116"/>
            <a:ext cx="384048" cy="384048"/>
          </a:xfrm>
          <a:prstGeom prst="rect">
            <a:avLst/>
          </a:prstGeom>
        </p:spPr>
      </p:pic>
      <p:sp>
        <p:nvSpPr>
          <p:cNvPr id="27" name="Text 20"/>
          <p:cNvSpPr txBox="1"/>
          <p:nvPr/>
        </p:nvSpPr>
        <p:spPr>
          <a:xfrm>
            <a:off x="5394960" y="420624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Feelings first</a:t>
            </a:r>
            <a:endParaRPr lang="en-US" sz="1700" dirty="0"/>
          </a:p>
        </p:txBody>
      </p:sp>
      <p:sp>
        <p:nvSpPr>
          <p:cNvPr id="28" name="Text 21"/>
          <p:cNvSpPr txBox="1"/>
          <p:nvPr/>
        </p:nvSpPr>
        <p:spPr>
          <a:xfrm>
            <a:off x="4572000" y="5029200"/>
            <a:ext cx="3017520" cy="822960"/>
          </a:xfrm>
          <a:prstGeom prst="rect">
            <a:avLst/>
          </a:prstGeom>
          <a:noFill/>
          <a:ln/>
        </p:spPr>
        <p:txBody>
          <a:bodyPr wrap="square" lIns="0" tIns="0" rIns="0" bIns="0" rtlCol="0" anchor="t"/>
          <a:lstStyle/>
          <a:p>
            <a:pPr indent="0" marL="0">
              <a:buNone/>
            </a:pPr>
            <a:r>
              <a:rPr lang="en-US" sz="1400" dirty="0">
                <a:solidFill>
                  <a:schemeClr val="tx2"/>
                </a:solidFill>
              </a:rPr>
              <a:t>A sad child hears kindness, and a nudge to tell a grown-up they trust.</a:t>
            </a:r>
            <a:endParaRPr lang="en-US" sz="1400" dirty="0"/>
          </a:p>
        </p:txBody>
      </p:sp>
      <p:sp>
        <p:nvSpPr>
          <p:cNvPr id="29" name="Family data on a leash tile"/>
          <p:cNvSpPr/>
          <p:nvPr/>
        </p:nvSpPr>
        <p:spPr>
          <a:xfrm>
            <a:off x="8046720" y="3931920"/>
            <a:ext cx="3520440" cy="2011680"/>
          </a:xfrm>
          <a:prstGeom prst="roundRect">
            <a:avLst>
              <a:gd name="adj" fmla="val 6818"/>
            </a:avLst>
          </a:prstGeom>
          <a:solidFill>
            <a:schemeClr val="bg1"/>
          </a:solidFill>
          <a:ln w="12700">
            <a:solidFill>
              <a:srgbClr val="E3E2F0"/>
            </a:solidFill>
            <a:prstDash val="solid"/>
          </a:ln>
          <a:effectLst>
            <a:outerShdw sx="100000" sy="100000" kx="0" ky="0" algn="bl" rotWithShape="0" blurRad="101600" dist="25400" dir="5400000">
              <a:srgbClr val="1B1F4B">
                <a:alpha val="14000"/>
              </a:srgbClr>
            </a:outerShdw>
          </a:effectLst>
        </p:spPr>
      </p:sp>
      <p:sp>
        <p:nvSpPr>
          <p:cNvPr id="30" name="Family data on a leash circle"/>
          <p:cNvSpPr/>
          <p:nvPr/>
        </p:nvSpPr>
        <p:spPr>
          <a:xfrm>
            <a:off x="8321040" y="4206240"/>
            <a:ext cx="685800" cy="685800"/>
          </a:xfrm>
          <a:prstGeom prst="ellipse">
            <a:avLst/>
          </a:prstGeom>
          <a:solidFill>
            <a:schemeClr val="tx1"/>
          </a:solidFill>
          <a:ln/>
        </p:spPr>
      </p:sp>
      <p:pic>
        <p:nvPicPr>
          <p:cNvPr id="31" name="Family data on a leash icon" descr="preencoded.png">    </p:cNvPr>
          <p:cNvPicPr>
            <a:picLocks noChangeAspect="1"/>
          </p:cNvPicPr>
          <p:nvPr/>
        </p:nvPicPr>
        <p:blipFill>
          <a:blip r:embed="rId6"/>
          <a:stretch>
            <a:fillRect/>
          </a:stretch>
        </p:blipFill>
        <p:spPr>
          <a:xfrm>
            <a:off x="8471916" y="4357116"/>
            <a:ext cx="384048" cy="384048"/>
          </a:xfrm>
          <a:prstGeom prst="rect">
            <a:avLst/>
          </a:prstGeom>
        </p:spPr>
      </p:pic>
      <p:sp>
        <p:nvSpPr>
          <p:cNvPr id="32" name="Text 24"/>
          <p:cNvSpPr txBox="1"/>
          <p:nvPr/>
        </p:nvSpPr>
        <p:spPr>
          <a:xfrm>
            <a:off x="9144000" y="4206240"/>
            <a:ext cx="2286000" cy="685800"/>
          </a:xfrm>
          <a:prstGeom prst="rect">
            <a:avLst/>
          </a:prstGeom>
          <a:noFill/>
          <a:ln/>
        </p:spPr>
        <p:txBody>
          <a:bodyPr wrap="square" lIns="0" tIns="0" rIns="0" bIns="0" rtlCol="0" anchor="ctr"/>
          <a:lstStyle/>
          <a:p>
            <a:pPr indent="0" marL="0">
              <a:buNone/>
            </a:pPr>
            <a:r>
              <a:rPr lang="en-US" sz="1700" b="1" dirty="0">
                <a:solidFill>
                  <a:schemeClr val="tx1"/>
                </a:solidFill>
              </a:rPr>
              <a:t>Family data on a leash</a:t>
            </a:r>
            <a:endParaRPr lang="en-US" sz="1700" dirty="0"/>
          </a:p>
        </p:txBody>
      </p:sp>
      <p:sp>
        <p:nvSpPr>
          <p:cNvPr id="33" name="Text 25"/>
          <p:cNvSpPr txBox="1"/>
          <p:nvPr/>
        </p:nvSpPr>
        <p:spPr>
          <a:xfrm>
            <a:off x="8321040" y="5029200"/>
            <a:ext cx="3017520" cy="822960"/>
          </a:xfrm>
          <a:prstGeom prst="rect">
            <a:avLst/>
          </a:prstGeom>
          <a:noFill/>
          <a:ln/>
        </p:spPr>
        <p:txBody>
          <a:bodyPr wrap="square" lIns="0" tIns="0" rIns="0" bIns="0" rtlCol="0" anchor="t"/>
          <a:lstStyle/>
          <a:p>
            <a:pPr indent="0" marL="0">
              <a:buNone/>
            </a:pPr>
            <a:r>
              <a:rPr lang="en-US" sz="1400" dirty="0">
                <a:solidFill>
                  <a:schemeClr val="tx2"/>
                </a:solidFill>
              </a:rPr>
              <a:t>Enrolled faces stay on the brain and are wiped with one command.</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685800"/>
            <a:ext cx="5486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TO BE CONTINUED</a:t>
            </a:r>
            <a:endParaRPr lang="en-US" sz="1300" dirty="0"/>
          </a:p>
        </p:txBody>
      </p:sp>
      <p:sp>
        <p:nvSpPr>
          <p:cNvPr id="3" name="Text 1"/>
          <p:cNvSpPr txBox="1"/>
          <p:nvPr/>
        </p:nvSpPr>
        <p:spPr>
          <a:xfrm>
            <a:off x="640080" y="1051560"/>
            <a:ext cx="10881360" cy="914400"/>
          </a:xfrm>
          <a:prstGeom prst="rect">
            <a:avLst/>
          </a:prstGeom>
          <a:noFill/>
          <a:ln/>
        </p:spPr>
        <p:txBody>
          <a:bodyPr wrap="square" lIns="0" tIns="0" rIns="0" bIns="0" rtlCol="0" anchor="ctr"/>
          <a:lstStyle/>
          <a:p>
            <a:pPr indent="0" marL="0">
              <a:buNone/>
            </a:pPr>
            <a:r>
              <a:rPr lang="en-US" sz="4000" b="1" dirty="0">
                <a:solidFill>
                  <a:schemeClr val="bg1"/>
                </a:solidFill>
                <a:latin typeface="Century Schoolbook" pitchFamily="34" charset="0"/>
                <a:ea typeface="Century Schoolbook" pitchFamily="34" charset="-122"/>
                <a:cs typeface="Century Schoolbook" pitchFamily="34" charset="-120"/>
              </a:rPr>
              <a:t>Come meet Dyno, Sage &amp; Penny</a:t>
            </a:r>
            <a:endParaRPr lang="en-US" sz="4000" dirty="0"/>
          </a:p>
        </p:txBody>
      </p:sp>
      <p:sp>
        <p:nvSpPr>
          <p:cNvPr id="4" name="Snappier card"/>
          <p:cNvSpPr/>
          <p:nvPr/>
        </p:nvSpPr>
        <p:spPr>
          <a:xfrm>
            <a:off x="640080" y="2377440"/>
            <a:ext cx="3474720" cy="2331720"/>
          </a:xfrm>
          <a:prstGeom prst="roundRect">
            <a:avLst>
              <a:gd name="adj" fmla="val 7843"/>
            </a:avLst>
          </a:prstGeom>
          <a:solidFill>
            <a:srgbClr val="2A2F66"/>
          </a:solidFill>
          <a:ln/>
        </p:spPr>
      </p:sp>
      <p:sp>
        <p:nvSpPr>
          <p:cNvPr id="5" name="Snappier circle"/>
          <p:cNvSpPr/>
          <p:nvPr/>
        </p:nvSpPr>
        <p:spPr>
          <a:xfrm>
            <a:off x="914400" y="2651760"/>
            <a:ext cx="731520" cy="731520"/>
          </a:xfrm>
          <a:prstGeom prst="ellipse">
            <a:avLst/>
          </a:prstGeom>
          <a:solidFill>
            <a:schemeClr val="accent1"/>
          </a:solidFill>
          <a:ln/>
        </p:spPr>
      </p:sp>
      <p:pic>
        <p:nvPicPr>
          <p:cNvPr id="6" name="Snappier icon" descr="preencoded.png">    </p:cNvPr>
          <p:cNvPicPr>
            <a:picLocks noChangeAspect="1"/>
          </p:cNvPicPr>
          <p:nvPr/>
        </p:nvPicPr>
        <p:blipFill>
          <a:blip r:embed="rId1"/>
          <a:stretch>
            <a:fillRect/>
          </a:stretch>
        </p:blipFill>
        <p:spPr>
          <a:xfrm>
            <a:off x="1075334" y="2812694"/>
            <a:ext cx="409651" cy="409651"/>
          </a:xfrm>
          <a:prstGeom prst="rect">
            <a:avLst/>
          </a:prstGeom>
        </p:spPr>
      </p:pic>
      <p:sp>
        <p:nvSpPr>
          <p:cNvPr id="7" name="Text 4"/>
          <p:cNvSpPr txBox="1"/>
          <p:nvPr/>
        </p:nvSpPr>
        <p:spPr>
          <a:xfrm>
            <a:off x="1783080" y="2651760"/>
            <a:ext cx="2194560" cy="731520"/>
          </a:xfrm>
          <a:prstGeom prst="rect">
            <a:avLst/>
          </a:prstGeom>
          <a:noFill/>
          <a:ln/>
        </p:spPr>
        <p:txBody>
          <a:bodyPr wrap="square" lIns="0" tIns="0" rIns="0" bIns="0" rtlCol="0" anchor="ctr"/>
          <a:lstStyle/>
          <a:p>
            <a:pPr indent="0" marL="0">
              <a:buNone/>
            </a:pPr>
            <a:r>
              <a:rPr lang="en-US" sz="2000" b="1" dirty="0">
                <a:solidFill>
                  <a:schemeClr val="bg1"/>
                </a:solidFill>
              </a:rPr>
              <a:t>Snappier</a:t>
            </a:r>
            <a:endParaRPr lang="en-US" sz="2000" dirty="0"/>
          </a:p>
        </p:txBody>
      </p:sp>
      <p:sp>
        <p:nvSpPr>
          <p:cNvPr id="8" name="Text 5"/>
          <p:cNvSpPr txBox="1"/>
          <p:nvPr/>
        </p:nvSpPr>
        <p:spPr>
          <a:xfrm>
            <a:off x="914400" y="3566160"/>
            <a:ext cx="2926080" cy="1005840"/>
          </a:xfrm>
          <a:prstGeom prst="rect">
            <a:avLst/>
          </a:prstGeom>
          <a:noFill/>
          <a:ln/>
        </p:spPr>
        <p:txBody>
          <a:bodyPr wrap="square" lIns="0" tIns="0" rIns="0" bIns="0" rtlCol="0" anchor="t"/>
          <a:lstStyle/>
          <a:p>
            <a:pPr indent="0" marL="0">
              <a:buNone/>
            </a:pPr>
            <a:r>
              <a:rPr lang="en-US" sz="1500" dirty="0">
                <a:solidFill>
                  <a:srgbClr val="D9DAF0"/>
                </a:solidFill>
              </a:rPr>
              <a:t>LiteRT-LM on a Jetson: published benchmarks show the first word in about 0.9 s.</a:t>
            </a:r>
            <a:endParaRPr lang="en-US" sz="1500" dirty="0"/>
          </a:p>
        </p:txBody>
      </p:sp>
      <p:sp>
        <p:nvSpPr>
          <p:cNvPr id="9" name="A bigger cast card"/>
          <p:cNvSpPr/>
          <p:nvPr/>
        </p:nvSpPr>
        <p:spPr>
          <a:xfrm>
            <a:off x="4389120" y="2377440"/>
            <a:ext cx="3474720" cy="2331720"/>
          </a:xfrm>
          <a:prstGeom prst="roundRect">
            <a:avLst>
              <a:gd name="adj" fmla="val 7843"/>
            </a:avLst>
          </a:prstGeom>
          <a:solidFill>
            <a:srgbClr val="2A2F66"/>
          </a:solidFill>
          <a:ln/>
        </p:spPr>
      </p:sp>
      <p:sp>
        <p:nvSpPr>
          <p:cNvPr id="10" name="A bigger cast circle"/>
          <p:cNvSpPr/>
          <p:nvPr/>
        </p:nvSpPr>
        <p:spPr>
          <a:xfrm>
            <a:off x="4663440" y="2651760"/>
            <a:ext cx="731520" cy="731520"/>
          </a:xfrm>
          <a:prstGeom prst="ellipse">
            <a:avLst/>
          </a:prstGeom>
          <a:solidFill>
            <a:schemeClr val="accent2"/>
          </a:solidFill>
          <a:ln/>
        </p:spPr>
      </p:sp>
      <p:pic>
        <p:nvPicPr>
          <p:cNvPr id="11" name="A bigger cast icon" descr="preencoded.png">    </p:cNvPr>
          <p:cNvPicPr>
            <a:picLocks noChangeAspect="1"/>
          </p:cNvPicPr>
          <p:nvPr/>
        </p:nvPicPr>
        <p:blipFill>
          <a:blip r:embed="rId2"/>
          <a:stretch>
            <a:fillRect/>
          </a:stretch>
        </p:blipFill>
        <p:spPr>
          <a:xfrm>
            <a:off x="4824374" y="2812694"/>
            <a:ext cx="409651" cy="409651"/>
          </a:xfrm>
          <a:prstGeom prst="rect">
            <a:avLst/>
          </a:prstGeom>
        </p:spPr>
      </p:pic>
      <p:sp>
        <p:nvSpPr>
          <p:cNvPr id="12" name="Text 8"/>
          <p:cNvSpPr txBox="1"/>
          <p:nvPr/>
        </p:nvSpPr>
        <p:spPr>
          <a:xfrm>
            <a:off x="5532120" y="2651760"/>
            <a:ext cx="2194560" cy="731520"/>
          </a:xfrm>
          <a:prstGeom prst="rect">
            <a:avLst/>
          </a:prstGeom>
          <a:noFill/>
          <a:ln/>
        </p:spPr>
        <p:txBody>
          <a:bodyPr wrap="square" lIns="0" tIns="0" rIns="0" bIns="0" rtlCol="0" anchor="ctr"/>
          <a:lstStyle/>
          <a:p>
            <a:pPr indent="0" marL="0">
              <a:buNone/>
            </a:pPr>
            <a:r>
              <a:rPr lang="en-US" sz="2000" b="1" dirty="0">
                <a:solidFill>
                  <a:schemeClr val="bg1"/>
                </a:solidFill>
              </a:rPr>
              <a:t>A bigger cast</a:t>
            </a:r>
            <a:endParaRPr lang="en-US" sz="2000" dirty="0"/>
          </a:p>
        </p:txBody>
      </p:sp>
      <p:sp>
        <p:nvSpPr>
          <p:cNvPr id="13" name="Text 9"/>
          <p:cNvSpPr txBox="1"/>
          <p:nvPr/>
        </p:nvSpPr>
        <p:spPr>
          <a:xfrm>
            <a:off x="4663440" y="3566160"/>
            <a:ext cx="2926080" cy="1005840"/>
          </a:xfrm>
          <a:prstGeom prst="rect">
            <a:avLst/>
          </a:prstGeom>
          <a:noFill/>
          <a:ln/>
        </p:spPr>
        <p:txBody>
          <a:bodyPr wrap="square" lIns="0" tIns="0" rIns="0" bIns="0" rtlCol="0" anchor="t"/>
          <a:lstStyle/>
          <a:p>
            <a:pPr indent="0" marL="0">
              <a:buNone/>
            </a:pPr>
            <a:r>
              <a:rPr lang="en-US" sz="1500" dirty="0">
                <a:solidFill>
                  <a:srgbClr val="D9DAF0"/>
                </a:solidFill>
              </a:rPr>
              <a:t>Every new friend is the same thin client. Just add a toy.</a:t>
            </a:r>
            <a:endParaRPr lang="en-US" sz="1500" dirty="0"/>
          </a:p>
        </p:txBody>
      </p:sp>
      <p:sp>
        <p:nvSpPr>
          <p:cNvPr id="14" name="More ways to play card"/>
          <p:cNvSpPr/>
          <p:nvPr/>
        </p:nvSpPr>
        <p:spPr>
          <a:xfrm>
            <a:off x="8138160" y="2377440"/>
            <a:ext cx="3474720" cy="2331720"/>
          </a:xfrm>
          <a:prstGeom prst="roundRect">
            <a:avLst>
              <a:gd name="adj" fmla="val 7843"/>
            </a:avLst>
          </a:prstGeom>
          <a:solidFill>
            <a:srgbClr val="2A2F66"/>
          </a:solidFill>
          <a:ln/>
        </p:spPr>
      </p:sp>
      <p:sp>
        <p:nvSpPr>
          <p:cNvPr id="15" name="More ways to play circle"/>
          <p:cNvSpPr/>
          <p:nvPr/>
        </p:nvSpPr>
        <p:spPr>
          <a:xfrm>
            <a:off x="8412480" y="2651760"/>
            <a:ext cx="731520" cy="731520"/>
          </a:xfrm>
          <a:prstGeom prst="ellipse">
            <a:avLst/>
          </a:prstGeom>
          <a:solidFill>
            <a:schemeClr val="accent3"/>
          </a:solidFill>
          <a:ln/>
        </p:spPr>
      </p:sp>
      <p:pic>
        <p:nvPicPr>
          <p:cNvPr id="16" name="More ways to play icon" descr="preencoded.png">    </p:cNvPr>
          <p:cNvPicPr>
            <a:picLocks noChangeAspect="1"/>
          </p:cNvPicPr>
          <p:nvPr/>
        </p:nvPicPr>
        <p:blipFill>
          <a:blip r:embed="rId3"/>
          <a:stretch>
            <a:fillRect/>
          </a:stretch>
        </p:blipFill>
        <p:spPr>
          <a:xfrm>
            <a:off x="8573414" y="2812694"/>
            <a:ext cx="409651" cy="409651"/>
          </a:xfrm>
          <a:prstGeom prst="rect">
            <a:avLst/>
          </a:prstGeom>
        </p:spPr>
      </p:pic>
      <p:sp>
        <p:nvSpPr>
          <p:cNvPr id="17" name="Text 12"/>
          <p:cNvSpPr txBox="1"/>
          <p:nvPr/>
        </p:nvSpPr>
        <p:spPr>
          <a:xfrm>
            <a:off x="9281160" y="2651760"/>
            <a:ext cx="2194560" cy="731520"/>
          </a:xfrm>
          <a:prstGeom prst="rect">
            <a:avLst/>
          </a:prstGeom>
          <a:noFill/>
          <a:ln/>
        </p:spPr>
        <p:txBody>
          <a:bodyPr wrap="square" lIns="0" tIns="0" rIns="0" bIns="0" rtlCol="0" anchor="ctr"/>
          <a:lstStyle/>
          <a:p>
            <a:pPr indent="0" marL="0">
              <a:buNone/>
            </a:pPr>
            <a:r>
              <a:rPr lang="en-US" sz="2000" b="1" dirty="0">
                <a:solidFill>
                  <a:schemeClr val="bg1"/>
                </a:solidFill>
              </a:rPr>
              <a:t>More ways to play</a:t>
            </a:r>
            <a:endParaRPr lang="en-US" sz="2000" dirty="0"/>
          </a:p>
        </p:txBody>
      </p:sp>
      <p:sp>
        <p:nvSpPr>
          <p:cNvPr id="18" name="Text 13"/>
          <p:cNvSpPr txBox="1"/>
          <p:nvPr/>
        </p:nvSpPr>
        <p:spPr>
          <a:xfrm>
            <a:off x="8412480" y="3566160"/>
            <a:ext cx="2926080" cy="1005840"/>
          </a:xfrm>
          <a:prstGeom prst="rect">
            <a:avLst/>
          </a:prstGeom>
          <a:noFill/>
          <a:ln/>
        </p:spPr>
        <p:txBody>
          <a:bodyPr wrap="square" lIns="0" tIns="0" rIns="0" bIns="0" rtlCol="0" anchor="t"/>
          <a:lstStyle/>
          <a:p>
            <a:pPr indent="0" marL="0">
              <a:buNone/>
            </a:pPr>
            <a:r>
              <a:rPr lang="en-US" sz="1500" dirty="0">
                <a:solidFill>
                  <a:srgbClr val="D9DAF0"/>
                </a:solidFill>
              </a:rPr>
              <a:t>A motion sensor in every toy: shake, tilt and high-five games.</a:t>
            </a:r>
            <a:endParaRPr lang="en-US" sz="1500" dirty="0"/>
          </a:p>
        </p:txBody>
      </p:sp>
      <p:sp>
        <p:nvSpPr>
          <p:cNvPr id="19" name="github circle"/>
          <p:cNvSpPr/>
          <p:nvPr/>
        </p:nvSpPr>
        <p:spPr>
          <a:xfrm>
            <a:off x="640080" y="5257800"/>
            <a:ext cx="548640" cy="548640"/>
          </a:xfrm>
          <a:prstGeom prst="ellipse">
            <a:avLst/>
          </a:prstGeom>
          <a:solidFill>
            <a:srgbClr val="2A2F66"/>
          </a:solidFill>
          <a:ln/>
        </p:spPr>
      </p:sp>
      <p:pic>
        <p:nvPicPr>
          <p:cNvPr id="20" name="github icon" descr="preencoded.png">    </p:cNvPr>
          <p:cNvPicPr>
            <a:picLocks noChangeAspect="1"/>
          </p:cNvPicPr>
          <p:nvPr/>
        </p:nvPicPr>
        <p:blipFill>
          <a:blip r:embed="rId4"/>
          <a:stretch>
            <a:fillRect/>
          </a:stretch>
        </p:blipFill>
        <p:spPr>
          <a:xfrm>
            <a:off x="760781" y="5378501"/>
            <a:ext cx="307238" cy="307238"/>
          </a:xfrm>
          <a:prstGeom prst="rect">
            <a:avLst/>
          </a:prstGeom>
        </p:spPr>
      </p:pic>
      <p:sp>
        <p:nvSpPr>
          <p:cNvPr id="21" name="Text 15">
            <a:hlinkClick r:id="rId5" tooltip=""/>
          </p:cNvPr>
          <p:cNvSpPr txBox="1"/>
          <p:nvPr/>
        </p:nvSpPr>
        <p:spPr>
          <a:xfrm>
            <a:off x="1325880" y="5257800"/>
            <a:ext cx="5943600" cy="548640"/>
          </a:xfrm>
          <a:prstGeom prst="rect">
            <a:avLst/>
          </a:prstGeom>
          <a:noFill/>
          <a:ln/>
        </p:spPr>
        <p:txBody>
          <a:bodyPr wrap="square" lIns="0" tIns="0" rIns="0" bIns="0" rtlCol="0" anchor="ctr"/>
          <a:lstStyle/>
          <a:p>
            <a:pPr indent="0" marL="0">
              <a:buNone/>
            </a:pPr>
            <a:r>
              <a:rPr lang="en-US" sz="18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github.com/patrick-hanley/sentient</a:t>
            </a:r>
            <a:endParaRPr lang="en-US" sz="1800" dirty="0"/>
          </a:p>
        </p:txBody>
      </p:sp>
      <p:sp>
        <p:nvSpPr>
          <p:cNvPr id="22" name="Text 16"/>
          <p:cNvSpPr txBox="1"/>
          <p:nvPr/>
        </p:nvSpPr>
        <p:spPr>
          <a:xfrm>
            <a:off x="6583680" y="5257800"/>
            <a:ext cx="4983480" cy="548640"/>
          </a:xfrm>
          <a:prstGeom prst="rect">
            <a:avLst/>
          </a:prstGeom>
          <a:noFill/>
          <a:ln/>
        </p:spPr>
        <p:txBody>
          <a:bodyPr wrap="square" lIns="0" tIns="0" rIns="0" bIns="0" rtlCol="0" anchor="ctr"/>
          <a:lstStyle/>
          <a:p>
            <a:pPr algn="r" indent="0" marL="0">
              <a:buNone/>
            </a:pPr>
            <a:r>
              <a:rPr lang="en-US" sz="1600" i="1" dirty="0">
                <a:solidFill>
                  <a:schemeClr val="accent1"/>
                </a:solidFill>
              </a:rPr>
              <a:t>Thank you. Ask Penny a times-table question.</a:t>
            </a:r>
            <a:endParaRPr lang="en-US" sz="1600" dirty="0"/>
          </a:p>
        </p:txBody>
      </p:sp>
    </p:spTree>
  </p:cSld>
  <p:clrMapOvr>
    <a:masterClrMapping/>
  </p:clrMapOvr>
</p:sld>
</file>

<file path=ppt/theme/theme1.xml><?xml version="1.0" encoding="utf-8"?>
<a:theme xmlns:a="http://schemas.openxmlformats.org/drawingml/2006/main" name="Starlight">
  <a:themeElements>
    <a:clrScheme name="Starlight">
      <a:dk1>
        <a:srgbClr val="1B1F4B"/>
      </a:dk1>
      <a:lt1>
        <a:srgbClr val="FFFFFF"/>
      </a:lt1>
      <a:dk2>
        <a:srgbClr val="4A4F7A"/>
      </a:dk2>
      <a:lt2>
        <a:srgbClr val="F1F0FA"/>
      </a:lt2>
      <a:accent1>
        <a:srgbClr val="F5C542"/>
      </a:accent1>
      <a:accent2>
        <a:srgbClr val="3E8E2F"/>
      </a:accent2>
      <a:accent3>
        <a:srgbClr val="E2711D"/>
      </a:accent3>
      <a:accent4>
        <a:srgbClr val="2F6FC9"/>
      </a:accent4>
      <a:accent5>
        <a:srgbClr val="F7E7B4"/>
      </a:accent5>
      <a:accent6>
        <a:srgbClr val="8B8FB0"/>
      </a:accent6>
      <a:hlink>
        <a:srgbClr val="2F6FC9"/>
      </a:hlink>
      <a:folHlink>
        <a:srgbClr val="4A4F7A"/>
      </a:folHlink>
    </a:clrScheme>
    <a:fontScheme name="Starlight">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Dyno, Sage &amp; Penny</dc:title>
  <dc:subject>PptxGenJS Presentation</dc:subject>
  <dc:creator>Patrick Hanley</dc:creator>
  <cp:lastModifiedBy>Patrick Hanley</cp:lastModifiedBy>
  <cp:revision>1</cp:revision>
  <dcterms:created xsi:type="dcterms:W3CDTF">2026-10-25T02:08:40Z</dcterms:created>
  <dcterms:modified xsi:type="dcterms:W3CDTF">2026-10-25T02:08:40Z</dcterms:modified>
</cp:coreProperties>
</file>